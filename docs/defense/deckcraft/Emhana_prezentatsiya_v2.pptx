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1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1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2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F4BC61"/>
                </a:solidFill>
                <a:latin typeface="Arial"/>
              </a:rPr>
              <a:t>ДЕРЕКТЕР БАЗАСЫ ЖОБАСЫ</a:t>
            </a:r>
            <a:endParaRPr sz="10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263" name="TextBox 4"/>
          <p:cNvSpPr txBox="1"/>
          <p:nvPr/>
        </p:nvSpPr>
        <p:spPr>
          <a:xfrm>
            <a:off x="660400" y="723900"/>
            <a:ext cx="10858500" cy="8839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Емханадағы қабылдауға</a:t>
            </a:r>
            <a:endParaRPr sz="2900" b="1">
              <a:solidFill>
                <a:srgbClr val="FFFFFF"/>
              </a:solidFill>
              <a:latin typeface="Arial"/>
            </a:endParaRPr>
          </a:p>
          <a:p>
            <a:r>
              <a:rPr sz="2900" b="1">
                <a:solidFill>
                  <a:srgbClr val="FFFFFF"/>
                </a:solidFill>
                <a:latin typeface="Arial"/>
              </a:rPr>
              <a:t>жазылу жүйесі</a:t>
            </a:r>
            <a:endParaRPr sz="29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36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5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AFC2D8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266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AFC2D8"/>
                </a:solidFill>
                <a:latin typeface="Arial"/>
              </a:rPr>
              <a:t>01</a:t>
            </a:r>
            <a:endParaRPr sz="10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267" name="TextBox 8"/>
          <p:cNvSpPr txBox="1"/>
          <p:nvPr/>
        </p:nvSpPr>
        <p:spPr>
          <a:xfrm>
            <a:off x="660400" y="2235200"/>
            <a:ext cx="7429500" cy="701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300" b="0">
                <a:solidFill>
                  <a:srgbClr val="FFFFFF"/>
                </a:solidFill>
                <a:latin typeface="Arial"/>
              </a:rPr>
              <a:t>Пациентке арналған онлайн жазылудан</a:t>
            </a:r>
            <a:endParaRPr sz="2300" b="0">
              <a:solidFill>
                <a:srgbClr val="FFFFFF"/>
              </a:solidFill>
              <a:latin typeface="Arial"/>
            </a:endParaRPr>
          </a:p>
          <a:p>
            <a:r>
              <a:rPr sz="2300" b="0">
                <a:solidFill>
                  <a:srgbClr val="FFFFFF"/>
                </a:solidFill>
                <a:latin typeface="Arial"/>
              </a:rPr>
              <a:t>дәрігер қабылдауы мен есепке дейін</a:t>
            </a:r>
            <a:endParaRPr sz="2300" b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Box 9"/>
          <p:cNvSpPr txBox="1"/>
          <p:nvPr/>
        </p:nvSpPr>
        <p:spPr>
          <a:xfrm>
            <a:off x="660400" y="3835400"/>
            <a:ext cx="6985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AFC2D8"/>
                </a:solidFill>
                <a:latin typeface="Arial"/>
              </a:rPr>
              <a:t>PHP  /  MySQL–MariaDB  /  Tabler</a:t>
            </a:r>
            <a:endParaRPr sz="1500" b="1">
              <a:solidFill>
                <a:srgbClr val="AFC2D8"/>
              </a:solidFill>
              <a:latin typeface="Arial"/>
            </a:endParaRPr>
          </a:p>
        </p:txBody>
      </p:sp>
      <p:sp>
        <p:nvSpPr>
          <p:cNvPr id="269" name="Rectangle 10"/>
          <p:cNvSpPr/>
          <p:nvPr/>
        </p:nvSpPr>
        <p:spPr>
          <a:xfrm>
            <a:off x="660400" y="4673600"/>
            <a:ext cx="6248400" cy="25400"/>
          </a:xfrm>
          <a:prstGeom prst="rect">
            <a:avLst/>
          </a:prstGeom>
          <a:solidFill>
            <a:srgbClr val="36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0" name="TextBox 11"/>
          <p:cNvSpPr txBox="1"/>
          <p:nvPr/>
        </p:nvSpPr>
        <p:spPr>
          <a:xfrm>
            <a:off x="660400" y="4927600"/>
            <a:ext cx="6604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Ақпараттық жүйе · 4-тақырып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271" name="Rectangle 12"/>
          <p:cNvSpPr/>
          <p:nvPr/>
        </p:nvSpPr>
        <p:spPr>
          <a:xfrm>
            <a:off x="8661400" y="1778000"/>
            <a:ext cx="2133600" cy="2133600"/>
          </a:xfrm>
          <a:prstGeom prst="rect">
            <a:avLst/>
          </a:prstGeom>
          <a:solidFill>
            <a:srgbClr val="1838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2" name="Rectangle 13"/>
          <p:cNvSpPr/>
          <p:nvPr/>
        </p:nvSpPr>
        <p:spPr>
          <a:xfrm>
            <a:off x="9461500" y="2197100"/>
            <a:ext cx="533400" cy="1270000"/>
          </a:xfrm>
          <a:prstGeom prst="rect">
            <a:avLst/>
          </a:prstGeom>
          <a:solidFill>
            <a:srgbClr val="087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3" name="Rectangle 14"/>
          <p:cNvSpPr/>
          <p:nvPr/>
        </p:nvSpPr>
        <p:spPr>
          <a:xfrm>
            <a:off x="9093200" y="2565400"/>
            <a:ext cx="1270000" cy="533400"/>
          </a:xfrm>
          <a:prstGeom prst="rect">
            <a:avLst/>
          </a:prstGeom>
          <a:solidFill>
            <a:srgbClr val="087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4" name="TextBox 15"/>
          <p:cNvSpPr txBox="1"/>
          <p:nvPr/>
        </p:nvSpPr>
        <p:spPr>
          <a:xfrm>
            <a:off x="8585200" y="4267200"/>
            <a:ext cx="22860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1">
                <a:solidFill>
                  <a:srgbClr val="AFC2D8"/>
                </a:solidFill>
                <a:latin typeface="Arial"/>
              </a:rPr>
              <a:t>ПАЦИЕНТ</a:t>
            </a:r>
            <a:endParaRPr sz="1300" b="1">
              <a:solidFill>
                <a:srgbClr val="AFC2D8"/>
              </a:solidFill>
              <a:latin typeface="Arial"/>
            </a:endParaRPr>
          </a:p>
        </p:txBody>
      </p:sp>
      <p:sp>
        <p:nvSpPr>
          <p:cNvPr id="275" name="TextBox 16"/>
          <p:cNvSpPr txBox="1"/>
          <p:nvPr/>
        </p:nvSpPr>
        <p:spPr>
          <a:xfrm>
            <a:off x="8585200" y="4597400"/>
            <a:ext cx="22860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2000" b="1">
                <a:solidFill>
                  <a:srgbClr val="F4BC61"/>
                </a:solidFill>
                <a:latin typeface="Arial"/>
              </a:rPr>
              <a:t>↓</a:t>
            </a:r>
            <a:endParaRPr sz="20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276" name="TextBox 17"/>
          <p:cNvSpPr txBox="1"/>
          <p:nvPr/>
        </p:nvSpPr>
        <p:spPr>
          <a:xfrm>
            <a:off x="8585200" y="5016500"/>
            <a:ext cx="22860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ҚАБЫЛДАУ</a:t>
            </a:r>
            <a:endParaRPr sz="1300" b="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9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0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МӘСЕЛЕ ЖӘНЕ МАҚСАТ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281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Неліктен осы жүйе қажет?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282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3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284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02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285" name="Rectangle 8"/>
          <p:cNvSpPr/>
          <p:nvPr/>
        </p:nvSpPr>
        <p:spPr>
          <a:xfrm>
            <a:off x="660400" y="1739900"/>
            <a:ext cx="5181600" cy="34798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6" name="Rectangle 9"/>
          <p:cNvSpPr/>
          <p:nvPr/>
        </p:nvSpPr>
        <p:spPr>
          <a:xfrm>
            <a:off x="6223000" y="1739900"/>
            <a:ext cx="5295900" cy="3479800"/>
          </a:xfrm>
          <a:prstGeom prst="rect">
            <a:avLst/>
          </a:prstGeom>
          <a:solidFill>
            <a:srgbClr val="DDF2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7" name="TextBox 10"/>
          <p:cNvSpPr txBox="1"/>
          <p:nvPr/>
        </p:nvSpPr>
        <p:spPr>
          <a:xfrm>
            <a:off x="965200" y="2032000"/>
            <a:ext cx="40640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1">
                <a:solidFill>
                  <a:srgbClr val="245BA8"/>
                </a:solidFill>
                <a:latin typeface="Arial"/>
              </a:rPr>
              <a:t>МӘСЕЛЕ</a:t>
            </a:r>
            <a:endParaRPr sz="13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288" name="TextBox 11"/>
          <p:cNvSpPr txBox="1"/>
          <p:nvPr/>
        </p:nvSpPr>
        <p:spPr>
          <a:xfrm>
            <a:off x="965200" y="2501900"/>
            <a:ext cx="4318000" cy="320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100" b="1">
                <a:solidFill>
                  <a:srgbClr val="142A46"/>
                </a:solidFill>
                <a:latin typeface="Arial"/>
              </a:rPr>
              <a:t>Уақыт қақтығысы</a:t>
            </a:r>
            <a:endParaRPr sz="21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289" name="TextBox 12"/>
          <p:cNvSpPr txBox="1"/>
          <p:nvPr/>
        </p:nvSpPr>
        <p:spPr>
          <a:xfrm>
            <a:off x="965200" y="2971800"/>
            <a:ext cx="4254500" cy="518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0">
                <a:solidFill>
                  <a:srgbClr val="526880"/>
                </a:solidFill>
                <a:latin typeface="Arial"/>
              </a:rPr>
              <a:t>Бір дәрігерге бір уақытта бірнеше пациентті жазу қаупі.</a:t>
            </a:r>
            <a:endParaRPr sz="17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290" name="TextBox 13"/>
          <p:cNvSpPr txBox="1"/>
          <p:nvPr/>
        </p:nvSpPr>
        <p:spPr>
          <a:xfrm>
            <a:off x="965200" y="3924300"/>
            <a:ext cx="43180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142A46"/>
                </a:solidFill>
                <a:latin typeface="Arial"/>
              </a:rPr>
              <a:t>Деректердің шашырауы</a:t>
            </a:r>
            <a:endParaRPr sz="20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291" name="TextBox 14"/>
          <p:cNvSpPr txBox="1"/>
          <p:nvPr/>
        </p:nvSpPr>
        <p:spPr>
          <a:xfrm>
            <a:off x="965200" y="4356100"/>
            <a:ext cx="42545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26880"/>
                </a:solidFill>
                <a:latin typeface="Arial"/>
              </a:rPr>
              <a:t>Карточка, қабылдау және нәтиже байланыссыз қалады.</a:t>
            </a:r>
            <a:endParaRPr sz="16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292" name="TextBox 15"/>
          <p:cNvSpPr txBox="1"/>
          <p:nvPr/>
        </p:nvSpPr>
        <p:spPr>
          <a:xfrm>
            <a:off x="6553200" y="2032000"/>
            <a:ext cx="41910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1">
                <a:solidFill>
                  <a:srgbClr val="087C7D"/>
                </a:solidFill>
                <a:latin typeface="Arial"/>
              </a:rPr>
              <a:t>ЖҮЙЕНІҢ ЖАУАБЫ</a:t>
            </a:r>
            <a:endParaRPr sz="13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293" name="TextBox 16"/>
          <p:cNvSpPr txBox="1"/>
          <p:nvPr/>
        </p:nvSpPr>
        <p:spPr>
          <a:xfrm>
            <a:off x="6553200" y="2501900"/>
            <a:ext cx="4254500" cy="320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100" b="1">
                <a:solidFill>
                  <a:srgbClr val="142A46"/>
                </a:solidFill>
                <a:latin typeface="Arial"/>
              </a:rPr>
              <a:t>Бір дерекқор</a:t>
            </a:r>
            <a:endParaRPr sz="21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294" name="TextBox 17"/>
          <p:cNvSpPr txBox="1"/>
          <p:nvPr/>
        </p:nvSpPr>
        <p:spPr>
          <a:xfrm>
            <a:off x="6553200" y="2971800"/>
            <a:ext cx="4318000" cy="518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0">
                <a:solidFill>
                  <a:srgbClr val="1D324B"/>
                </a:solidFill>
                <a:latin typeface="Arial"/>
              </a:rPr>
              <a:t>Пациент, дәрігер және қабылдау ортақ байланыс арқылы сақталады.</a:t>
            </a:r>
            <a:endParaRPr sz="17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295" name="TextBox 18"/>
          <p:cNvSpPr txBox="1"/>
          <p:nvPr/>
        </p:nvSpPr>
        <p:spPr>
          <a:xfrm>
            <a:off x="6553200" y="3924300"/>
            <a:ext cx="43180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142A46"/>
                </a:solidFill>
                <a:latin typeface="Arial"/>
              </a:rPr>
              <a:t>Тексерілетін ережелер</a:t>
            </a:r>
            <a:endParaRPr sz="20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296" name="TextBox 19"/>
          <p:cNvSpPr txBox="1"/>
          <p:nvPr/>
        </p:nvSpPr>
        <p:spPr>
          <a:xfrm>
            <a:off x="6553200" y="4356100"/>
            <a:ext cx="43180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1D324B"/>
                </a:solidFill>
                <a:latin typeface="Arial"/>
              </a:rPr>
              <a:t>Рөл, дерек иесі және қабылдау уақыты серверде тексеріледі.</a:t>
            </a:r>
            <a:endParaRPr sz="16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297" name="TextBox 20"/>
          <p:cNvSpPr txBox="1"/>
          <p:nvPr/>
        </p:nvSpPr>
        <p:spPr>
          <a:xfrm>
            <a:off x="660400" y="5689600"/>
            <a:ext cx="10795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245BA8"/>
                </a:solidFill>
                <a:latin typeface="Arial"/>
              </a:rPr>
              <a:t>Мақсат: жазылудан бастап қабылдау нәтижесіне дейінгі процесті біріктіру.</a:t>
            </a:r>
            <a:endParaRPr sz="1800" b="1">
              <a:solidFill>
                <a:srgbClr val="245BA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0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1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ПАЙДАЛАНУШЫЛАР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302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Төрт рөл және олардың құқықтары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03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4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05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03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06" name="Rectangle 8"/>
          <p:cNvSpPr/>
          <p:nvPr/>
        </p:nvSpPr>
        <p:spPr>
          <a:xfrm>
            <a:off x="660400" y="1816100"/>
            <a:ext cx="10858500" cy="50800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7" name="TextBox 9"/>
          <p:cNvSpPr txBox="1"/>
          <p:nvPr/>
        </p:nvSpPr>
        <p:spPr>
          <a:xfrm>
            <a:off x="889000" y="1943100"/>
            <a:ext cx="19050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РӨЛ</a:t>
            </a:r>
            <a:endParaRPr sz="12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Box 10"/>
          <p:cNvSpPr txBox="1"/>
          <p:nvPr/>
        </p:nvSpPr>
        <p:spPr>
          <a:xfrm>
            <a:off x="3048000" y="1943100"/>
            <a:ext cx="50800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НЕ ІСТЕЙДІ?</a:t>
            </a:r>
            <a:endParaRPr sz="12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Box 11"/>
          <p:cNvSpPr txBox="1"/>
          <p:nvPr/>
        </p:nvSpPr>
        <p:spPr>
          <a:xfrm>
            <a:off x="8432800" y="1943100"/>
            <a:ext cx="28575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ҚОЛЖЕТІМДІЛІК</a:t>
            </a:r>
            <a:endParaRPr sz="12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Rectangle 12"/>
          <p:cNvSpPr/>
          <p:nvPr/>
        </p:nvSpPr>
        <p:spPr>
          <a:xfrm>
            <a:off x="660400" y="2324100"/>
            <a:ext cx="10858500" cy="8128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1" name="Rectangle 13"/>
          <p:cNvSpPr/>
          <p:nvPr/>
        </p:nvSpPr>
        <p:spPr>
          <a:xfrm>
            <a:off x="660400" y="31242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2" name="TextBox 14"/>
          <p:cNvSpPr txBox="1"/>
          <p:nvPr/>
        </p:nvSpPr>
        <p:spPr>
          <a:xfrm>
            <a:off x="889000" y="2565400"/>
            <a:ext cx="18415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Пациент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13" name="TextBox 15"/>
          <p:cNvSpPr txBox="1"/>
          <p:nvPr/>
        </p:nvSpPr>
        <p:spPr>
          <a:xfrm>
            <a:off x="3048000" y="2514600"/>
            <a:ext cx="50419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Тіркеледі, бос уақытқа жазылады, бас тартады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314" name="TextBox 16"/>
          <p:cNvSpPr txBox="1"/>
          <p:nvPr/>
        </p:nvSpPr>
        <p:spPr>
          <a:xfrm>
            <a:off x="8432800" y="2514600"/>
            <a:ext cx="28194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26880"/>
                </a:solidFill>
                <a:latin typeface="Arial"/>
              </a:rPr>
              <a:t>Тек өз қабылдаулары</a:t>
            </a:r>
            <a:endParaRPr sz="15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15" name="Rectangle 17"/>
          <p:cNvSpPr/>
          <p:nvPr/>
        </p:nvSpPr>
        <p:spPr>
          <a:xfrm>
            <a:off x="660400" y="3149600"/>
            <a:ext cx="108585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6" name="Rectangle 18"/>
          <p:cNvSpPr/>
          <p:nvPr/>
        </p:nvSpPr>
        <p:spPr>
          <a:xfrm>
            <a:off x="660400" y="39497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7" name="TextBox 19"/>
          <p:cNvSpPr txBox="1"/>
          <p:nvPr/>
        </p:nvSpPr>
        <p:spPr>
          <a:xfrm>
            <a:off x="889000" y="3390900"/>
            <a:ext cx="18415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Тіркеуші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18" name="TextBox 20"/>
          <p:cNvSpPr txBox="1"/>
          <p:nvPr/>
        </p:nvSpPr>
        <p:spPr>
          <a:xfrm>
            <a:off x="3048000" y="3340100"/>
            <a:ext cx="50419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Карточка жасайды, жазылуды басқарады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319" name="TextBox 21"/>
          <p:cNvSpPr txBox="1"/>
          <p:nvPr/>
        </p:nvSpPr>
        <p:spPr>
          <a:xfrm>
            <a:off x="8432800" y="3340100"/>
            <a:ext cx="28194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26880"/>
                </a:solidFill>
                <a:latin typeface="Arial"/>
              </a:rPr>
              <a:t>Пациенттер мен қабылдаулар</a:t>
            </a:r>
            <a:endParaRPr sz="15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20" name="Rectangle 22"/>
          <p:cNvSpPr/>
          <p:nvPr/>
        </p:nvSpPr>
        <p:spPr>
          <a:xfrm>
            <a:off x="660400" y="3975100"/>
            <a:ext cx="10858500" cy="8128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1" name="Rectangle 23"/>
          <p:cNvSpPr/>
          <p:nvPr/>
        </p:nvSpPr>
        <p:spPr>
          <a:xfrm>
            <a:off x="660400" y="47752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2" name="TextBox 24"/>
          <p:cNvSpPr txBox="1"/>
          <p:nvPr/>
        </p:nvSpPr>
        <p:spPr>
          <a:xfrm>
            <a:off x="889000" y="4216400"/>
            <a:ext cx="18415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Дәрігер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23" name="TextBox 25"/>
          <p:cNvSpPr txBox="1"/>
          <p:nvPr/>
        </p:nvSpPr>
        <p:spPr>
          <a:xfrm>
            <a:off x="3048000" y="4165600"/>
            <a:ext cx="50419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Қабылдайды, медициналық жазба, рецепт енгізеді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324" name="TextBox 26"/>
          <p:cNvSpPr txBox="1"/>
          <p:nvPr/>
        </p:nvSpPr>
        <p:spPr>
          <a:xfrm>
            <a:off x="8432800" y="4165600"/>
            <a:ext cx="28194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26880"/>
                </a:solidFill>
                <a:latin typeface="Arial"/>
              </a:rPr>
              <a:t>Өз қабылдауы және тиісті тарих</a:t>
            </a:r>
            <a:endParaRPr sz="15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25" name="Rectangle 27"/>
          <p:cNvSpPr/>
          <p:nvPr/>
        </p:nvSpPr>
        <p:spPr>
          <a:xfrm>
            <a:off x="660400" y="4800600"/>
            <a:ext cx="108585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6" name="Rectangle 28"/>
          <p:cNvSpPr/>
          <p:nvPr/>
        </p:nvSpPr>
        <p:spPr>
          <a:xfrm>
            <a:off x="660400" y="56007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7" name="TextBox 29"/>
          <p:cNvSpPr txBox="1"/>
          <p:nvPr/>
        </p:nvSpPr>
        <p:spPr>
          <a:xfrm>
            <a:off x="889000" y="5041900"/>
            <a:ext cx="18415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Әкімші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28" name="TextBox 30"/>
          <p:cNvSpPr txBox="1"/>
          <p:nvPr/>
        </p:nvSpPr>
        <p:spPr>
          <a:xfrm>
            <a:off x="3048000" y="4991100"/>
            <a:ext cx="50419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Пайдаланушы, дәрігер, бөлімше және есеп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329" name="TextBox 31"/>
          <p:cNvSpPr txBox="1"/>
          <p:nvPr/>
        </p:nvSpPr>
        <p:spPr>
          <a:xfrm>
            <a:off x="8432800" y="4991100"/>
            <a:ext cx="28194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26880"/>
                </a:solidFill>
                <a:latin typeface="Arial"/>
              </a:rPr>
              <a:t>Жүйені басқару</a:t>
            </a:r>
            <a:endParaRPr sz="15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30" name="TextBox 32"/>
          <p:cNvSpPr txBox="1"/>
          <p:nvPr/>
        </p:nvSpPr>
        <p:spPr>
          <a:xfrm>
            <a:off x="660400" y="5867400"/>
            <a:ext cx="10795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26880"/>
                </a:solidFill>
                <a:latin typeface="Arial"/>
              </a:rPr>
              <a:t>Пациент карточкасы аккаунтсыз да болуы мүмкін; бұрынғы карточканы әкімші байланыстырады.</a:t>
            </a:r>
            <a:endParaRPr sz="1400" b="0">
              <a:solidFill>
                <a:srgbClr val="52688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1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4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F4BC61"/>
                </a:solidFill>
                <a:latin typeface="Arial"/>
              </a:rPr>
              <a:t>ЖҮЙЕ АРХИТЕКТУРАСЫ</a:t>
            </a:r>
            <a:endParaRPr sz="10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335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Бір сұрау жүйеден қалай өтеді?</a:t>
            </a:r>
            <a:endParaRPr sz="29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36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7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AFC2D8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38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AFC2D8"/>
                </a:solidFill>
                <a:latin typeface="Arial"/>
              </a:rPr>
              <a:t>04</a:t>
            </a:r>
            <a:endParaRPr sz="10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39" name="Rectangle 8"/>
          <p:cNvSpPr/>
          <p:nvPr/>
        </p:nvSpPr>
        <p:spPr>
          <a:xfrm>
            <a:off x="698500" y="1943100"/>
            <a:ext cx="3200400" cy="13716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0" name="TextBox 9"/>
          <p:cNvSpPr txBox="1"/>
          <p:nvPr/>
        </p:nvSpPr>
        <p:spPr>
          <a:xfrm>
            <a:off x="927100" y="2184400"/>
            <a:ext cx="2730500" cy="320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100" b="1">
                <a:solidFill>
                  <a:srgbClr val="FFFFFF"/>
                </a:solidFill>
                <a:latin typeface="Arial"/>
              </a:rPr>
              <a:t>Браузер</a:t>
            </a:r>
            <a:endParaRPr sz="21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Box 10"/>
          <p:cNvSpPr txBox="1"/>
          <p:nvPr/>
        </p:nvSpPr>
        <p:spPr>
          <a:xfrm>
            <a:off x="927100" y="2755900"/>
            <a:ext cx="27432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Форма және интерфейс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42" name="Rectangle 11"/>
          <p:cNvSpPr/>
          <p:nvPr/>
        </p:nvSpPr>
        <p:spPr>
          <a:xfrm>
            <a:off x="4495800" y="1943100"/>
            <a:ext cx="3200400" cy="13716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3" name="TextBox 12"/>
          <p:cNvSpPr txBox="1"/>
          <p:nvPr/>
        </p:nvSpPr>
        <p:spPr>
          <a:xfrm>
            <a:off x="4724400" y="2184400"/>
            <a:ext cx="2730500" cy="320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100" b="1">
                <a:solidFill>
                  <a:srgbClr val="FFFFFF"/>
                </a:solidFill>
                <a:latin typeface="Arial"/>
              </a:rPr>
              <a:t>PHP сервері</a:t>
            </a:r>
            <a:endParaRPr sz="21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Box 13"/>
          <p:cNvSpPr txBox="1"/>
          <p:nvPr/>
        </p:nvSpPr>
        <p:spPr>
          <a:xfrm>
            <a:off x="4724400" y="2755900"/>
            <a:ext cx="27432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Рөл, CSRF, валидация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45" name="Rectangle 14"/>
          <p:cNvSpPr/>
          <p:nvPr/>
        </p:nvSpPr>
        <p:spPr>
          <a:xfrm>
            <a:off x="8280400" y="1943100"/>
            <a:ext cx="3200400" cy="13716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6" name="TextBox 15"/>
          <p:cNvSpPr txBox="1"/>
          <p:nvPr/>
        </p:nvSpPr>
        <p:spPr>
          <a:xfrm>
            <a:off x="8509000" y="2184400"/>
            <a:ext cx="2730500" cy="320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100" b="1">
                <a:solidFill>
                  <a:srgbClr val="FFFFFF"/>
                </a:solidFill>
                <a:latin typeface="Arial"/>
              </a:rPr>
              <a:t>MySQL</a:t>
            </a:r>
            <a:endParaRPr sz="21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Box 16"/>
          <p:cNvSpPr txBox="1"/>
          <p:nvPr/>
        </p:nvSpPr>
        <p:spPr>
          <a:xfrm>
            <a:off x="8509000" y="2755900"/>
            <a:ext cx="27432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Сұрау және шектеулер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48" name="TextBox 17"/>
          <p:cNvSpPr txBox="1"/>
          <p:nvPr/>
        </p:nvSpPr>
        <p:spPr>
          <a:xfrm>
            <a:off x="3937000" y="2336800"/>
            <a:ext cx="508000" cy="4267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2800" b="1">
                <a:solidFill>
                  <a:srgbClr val="F4BC61"/>
                </a:solidFill>
                <a:latin typeface="Arial"/>
              </a:rPr>
              <a:t>→</a:t>
            </a:r>
            <a:endParaRPr sz="28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349" name="TextBox 18"/>
          <p:cNvSpPr txBox="1"/>
          <p:nvPr/>
        </p:nvSpPr>
        <p:spPr>
          <a:xfrm>
            <a:off x="7721600" y="2336800"/>
            <a:ext cx="508000" cy="4267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2800" b="1">
                <a:solidFill>
                  <a:srgbClr val="F4BC61"/>
                </a:solidFill>
                <a:latin typeface="Arial"/>
              </a:rPr>
              <a:t>→</a:t>
            </a:r>
            <a:endParaRPr sz="28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350" name="TextBox 19"/>
          <p:cNvSpPr txBox="1"/>
          <p:nvPr/>
        </p:nvSpPr>
        <p:spPr>
          <a:xfrm>
            <a:off x="736600" y="3886200"/>
            <a:ext cx="825500" cy="3962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600" b="1">
                <a:solidFill>
                  <a:srgbClr val="F4BC61"/>
                </a:solidFill>
                <a:latin typeface="Arial"/>
              </a:rPr>
              <a:t>01</a:t>
            </a:r>
            <a:endParaRPr sz="26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351" name="TextBox 20"/>
          <p:cNvSpPr txBox="1"/>
          <p:nvPr/>
        </p:nvSpPr>
        <p:spPr>
          <a:xfrm>
            <a:off x="1485900" y="3886200"/>
            <a:ext cx="2667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Сұрау</a:t>
            </a:r>
            <a:endParaRPr sz="18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Box 21"/>
          <p:cNvSpPr txBox="1"/>
          <p:nvPr/>
        </p:nvSpPr>
        <p:spPr>
          <a:xfrm>
            <a:off x="1485900" y="4330700"/>
            <a:ext cx="29845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AFC2D8"/>
                </a:solidFill>
                <a:latin typeface="Arial"/>
              </a:rPr>
              <a:t>Пациент күн мен дәрігерді таңдайды.</a:t>
            </a:r>
            <a:endParaRPr sz="15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53" name="TextBox 22"/>
          <p:cNvSpPr txBox="1"/>
          <p:nvPr/>
        </p:nvSpPr>
        <p:spPr>
          <a:xfrm>
            <a:off x="4635500" y="3886200"/>
            <a:ext cx="825500" cy="3962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600" b="1">
                <a:solidFill>
                  <a:srgbClr val="F4BC61"/>
                </a:solidFill>
                <a:latin typeface="Arial"/>
              </a:rPr>
              <a:t>02</a:t>
            </a:r>
            <a:endParaRPr sz="26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354" name="TextBox 23"/>
          <p:cNvSpPr txBox="1"/>
          <p:nvPr/>
        </p:nvSpPr>
        <p:spPr>
          <a:xfrm>
            <a:off x="5384800" y="3886200"/>
            <a:ext cx="2667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Тексеру</a:t>
            </a:r>
            <a:endParaRPr sz="18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4"/>
          <p:cNvSpPr txBox="1"/>
          <p:nvPr/>
        </p:nvSpPr>
        <p:spPr>
          <a:xfrm>
            <a:off x="5384800" y="4330700"/>
            <a:ext cx="27305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AFC2D8"/>
                </a:solidFill>
                <a:latin typeface="Arial"/>
              </a:rPr>
              <a:t>Аккаунт пен слот ережелері тексеріледі.</a:t>
            </a:r>
            <a:endParaRPr sz="15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56" name="TextBox 25"/>
          <p:cNvSpPr txBox="1"/>
          <p:nvPr/>
        </p:nvSpPr>
        <p:spPr>
          <a:xfrm>
            <a:off x="8382000" y="3886200"/>
            <a:ext cx="825500" cy="3962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600" b="1">
                <a:solidFill>
                  <a:srgbClr val="F4BC61"/>
                </a:solidFill>
                <a:latin typeface="Arial"/>
              </a:rPr>
              <a:t>03</a:t>
            </a:r>
            <a:endParaRPr sz="26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357" name="TextBox 26"/>
          <p:cNvSpPr txBox="1"/>
          <p:nvPr/>
        </p:nvSpPr>
        <p:spPr>
          <a:xfrm>
            <a:off x="9131300" y="3886200"/>
            <a:ext cx="2286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Жауап</a:t>
            </a:r>
            <a:endParaRPr sz="18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27"/>
          <p:cNvSpPr txBox="1"/>
          <p:nvPr/>
        </p:nvSpPr>
        <p:spPr>
          <a:xfrm>
            <a:off x="9131300" y="4330700"/>
            <a:ext cx="2413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AFC2D8"/>
                </a:solidFill>
                <a:latin typeface="Arial"/>
              </a:rPr>
              <a:t>Қабылдау сақталады немесе қате көрсетіледі.</a:t>
            </a:r>
            <a:endParaRPr sz="15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359" name="TextBox 28"/>
          <p:cNvSpPr txBox="1"/>
          <p:nvPr/>
        </p:nvSpPr>
        <p:spPr>
          <a:xfrm>
            <a:off x="698500" y="5613400"/>
            <a:ext cx="10795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PDO параметрлері SQL мәндерін сұрау мәтінінен бөледі.</a:t>
            </a:r>
            <a:endParaRPr sz="1500" b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2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3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НЕГІЗГІ ТОҒЫЗ КЕСТЕ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364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Деректер қай кестелерде сақталады?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65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6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67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05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68" name="Rectangle 8"/>
          <p:cNvSpPr/>
          <p:nvPr/>
        </p:nvSpPr>
        <p:spPr>
          <a:xfrm>
            <a:off x="660400" y="1866900"/>
            <a:ext cx="2159000" cy="11811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9" name="TextBox 9"/>
          <p:cNvSpPr txBox="1"/>
          <p:nvPr/>
        </p:nvSpPr>
        <p:spPr>
          <a:xfrm>
            <a:off x="850900" y="2311400"/>
            <a:ext cx="1790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АККАУНТТАР</a:t>
            </a:r>
            <a:endParaRPr sz="13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Rectangle 10"/>
          <p:cNvSpPr/>
          <p:nvPr/>
        </p:nvSpPr>
        <p:spPr>
          <a:xfrm>
            <a:off x="2921000" y="18669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1" name="TextBox 11"/>
          <p:cNvSpPr txBox="1"/>
          <p:nvPr/>
        </p:nvSpPr>
        <p:spPr>
          <a:xfrm>
            <a:off x="3060700" y="20955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users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72" name="TextBox 12"/>
          <p:cNvSpPr txBox="1"/>
          <p:nvPr/>
        </p:nvSpPr>
        <p:spPr>
          <a:xfrm>
            <a:off x="3060700" y="25019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Логин, рөл, пароль хэші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73" name="Rectangle 13"/>
          <p:cNvSpPr/>
          <p:nvPr/>
        </p:nvSpPr>
        <p:spPr>
          <a:xfrm>
            <a:off x="5791200" y="18669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4" name="TextBox 14"/>
          <p:cNvSpPr txBox="1"/>
          <p:nvPr/>
        </p:nvSpPr>
        <p:spPr>
          <a:xfrm>
            <a:off x="5930900" y="20955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patients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75" name="TextBox 15"/>
          <p:cNvSpPr txBox="1"/>
          <p:nvPr/>
        </p:nvSpPr>
        <p:spPr>
          <a:xfrm>
            <a:off x="5930900" y="25019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Аты, туған күні, телефон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76" name="Rectangle 16"/>
          <p:cNvSpPr/>
          <p:nvPr/>
        </p:nvSpPr>
        <p:spPr>
          <a:xfrm>
            <a:off x="8661400" y="18669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7" name="TextBox 17"/>
          <p:cNvSpPr txBox="1"/>
          <p:nvPr/>
        </p:nvSpPr>
        <p:spPr>
          <a:xfrm>
            <a:off x="8801100" y="20955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patient_accounts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78" name="TextBox 18"/>
          <p:cNvSpPr txBox="1"/>
          <p:nvPr/>
        </p:nvSpPr>
        <p:spPr>
          <a:xfrm>
            <a:off x="8801100" y="25019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Аккаунт ↔ карточка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79" name="Rectangle 19"/>
          <p:cNvSpPr/>
          <p:nvPr/>
        </p:nvSpPr>
        <p:spPr>
          <a:xfrm>
            <a:off x="660400" y="3175000"/>
            <a:ext cx="2159000" cy="1181100"/>
          </a:xfrm>
          <a:prstGeom prst="rect">
            <a:avLst/>
          </a:prstGeom>
          <a:solidFill>
            <a:srgbClr val="087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0" name="TextBox 20"/>
          <p:cNvSpPr txBox="1"/>
          <p:nvPr/>
        </p:nvSpPr>
        <p:spPr>
          <a:xfrm>
            <a:off x="850900" y="3619500"/>
            <a:ext cx="1790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ДӘРІГЕРЛЕР</a:t>
            </a:r>
            <a:endParaRPr sz="13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Rectangle 21"/>
          <p:cNvSpPr/>
          <p:nvPr/>
        </p:nvSpPr>
        <p:spPr>
          <a:xfrm>
            <a:off x="2921000" y="31750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2" name="TextBox 22"/>
          <p:cNvSpPr txBox="1"/>
          <p:nvPr/>
        </p:nvSpPr>
        <p:spPr>
          <a:xfrm>
            <a:off x="3060700" y="34036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departments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83" name="TextBox 23"/>
          <p:cNvSpPr txBox="1"/>
          <p:nvPr/>
        </p:nvSpPr>
        <p:spPr>
          <a:xfrm>
            <a:off x="3060700" y="38100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Бөлімшенің атауы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84" name="Rectangle 24"/>
          <p:cNvSpPr/>
          <p:nvPr/>
        </p:nvSpPr>
        <p:spPr>
          <a:xfrm>
            <a:off x="5791200" y="31750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5" name="TextBox 25"/>
          <p:cNvSpPr txBox="1"/>
          <p:nvPr/>
        </p:nvSpPr>
        <p:spPr>
          <a:xfrm>
            <a:off x="5930900" y="34036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doctors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86" name="TextBox 26"/>
          <p:cNvSpPr txBox="1"/>
          <p:nvPr/>
        </p:nvSpPr>
        <p:spPr>
          <a:xfrm>
            <a:off x="5930900" y="38100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Дәрігер профилі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87" name="Rectangle 27"/>
          <p:cNvSpPr/>
          <p:nvPr/>
        </p:nvSpPr>
        <p:spPr>
          <a:xfrm>
            <a:off x="8661400" y="31750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8" name="TextBox 28"/>
          <p:cNvSpPr txBox="1"/>
          <p:nvPr/>
        </p:nvSpPr>
        <p:spPr>
          <a:xfrm>
            <a:off x="8801100" y="34036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specializations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89" name="TextBox 29"/>
          <p:cNvSpPr txBox="1"/>
          <p:nvPr/>
        </p:nvSpPr>
        <p:spPr>
          <a:xfrm>
            <a:off x="8801100" y="38100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Мамандық анықтамалығы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90" name="Rectangle 30"/>
          <p:cNvSpPr/>
          <p:nvPr/>
        </p:nvSpPr>
        <p:spPr>
          <a:xfrm>
            <a:off x="660400" y="4483100"/>
            <a:ext cx="2159000" cy="11811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1" name="TextBox 31"/>
          <p:cNvSpPr txBox="1"/>
          <p:nvPr/>
        </p:nvSpPr>
        <p:spPr>
          <a:xfrm>
            <a:off x="850900" y="4927600"/>
            <a:ext cx="1790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ҚАБЫЛДАУ</a:t>
            </a:r>
            <a:endParaRPr sz="13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Rectangle 32"/>
          <p:cNvSpPr/>
          <p:nvPr/>
        </p:nvSpPr>
        <p:spPr>
          <a:xfrm>
            <a:off x="2921000" y="44831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3" name="TextBox 33"/>
          <p:cNvSpPr txBox="1"/>
          <p:nvPr/>
        </p:nvSpPr>
        <p:spPr>
          <a:xfrm>
            <a:off x="3060700" y="47117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appointments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94" name="TextBox 34"/>
          <p:cNvSpPr txBox="1"/>
          <p:nvPr/>
        </p:nvSpPr>
        <p:spPr>
          <a:xfrm>
            <a:off x="3060700" y="51181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Күн, уақыт, мәртебе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95" name="Rectangle 35"/>
          <p:cNvSpPr/>
          <p:nvPr/>
        </p:nvSpPr>
        <p:spPr>
          <a:xfrm>
            <a:off x="5791200" y="44831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6" name="TextBox 36"/>
          <p:cNvSpPr txBox="1"/>
          <p:nvPr/>
        </p:nvSpPr>
        <p:spPr>
          <a:xfrm>
            <a:off x="5930900" y="47117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medical_records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397" name="TextBox 37"/>
          <p:cNvSpPr txBox="1"/>
          <p:nvPr/>
        </p:nvSpPr>
        <p:spPr>
          <a:xfrm>
            <a:off x="5930900" y="51181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Диагноз, ем, ескертпе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398" name="Rectangle 38"/>
          <p:cNvSpPr/>
          <p:nvPr/>
        </p:nvSpPr>
        <p:spPr>
          <a:xfrm>
            <a:off x="8661400" y="4483100"/>
            <a:ext cx="2755900" cy="11811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9" name="TextBox 39"/>
          <p:cNvSpPr txBox="1"/>
          <p:nvPr/>
        </p:nvSpPr>
        <p:spPr>
          <a:xfrm>
            <a:off x="8801100" y="4711700"/>
            <a:ext cx="24892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142A46"/>
                </a:solidFill>
                <a:latin typeface="Arial"/>
              </a:rPr>
              <a:t>prescriptions</a:t>
            </a:r>
            <a:endParaRPr sz="15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00" name="TextBox 40"/>
          <p:cNvSpPr txBox="1"/>
          <p:nvPr/>
        </p:nvSpPr>
        <p:spPr>
          <a:xfrm>
            <a:off x="8801100" y="5118100"/>
            <a:ext cx="24638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0">
                <a:solidFill>
                  <a:srgbClr val="526880"/>
                </a:solidFill>
                <a:latin typeface="Arial"/>
              </a:rPr>
              <a:t>Дәрі, мөлшер, ұзақтық</a:t>
            </a:r>
            <a:endParaRPr sz="12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01" name="TextBox 41"/>
          <p:cNvSpPr txBox="1"/>
          <p:nvPr/>
        </p:nvSpPr>
        <p:spPr>
          <a:xfrm>
            <a:off x="660400" y="5943600"/>
            <a:ext cx="10858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26880"/>
                </a:solidFill>
                <a:latin typeface="Arial"/>
              </a:rPr>
              <a:t>Әр кесте нақты объектіні сақтайды; байланыстар сыртқы кілттер арқылы құрылады.</a:t>
            </a:r>
            <a:endParaRPr sz="1400" b="0">
              <a:solidFill>
                <a:srgbClr val="52688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4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5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БІРДЕН КӨПКЕ ЖӘНЕ БІРДЕН БІРГЕ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06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Негізгі байланыстар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07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8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09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06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10" name="Rectangle 8"/>
          <p:cNvSpPr/>
          <p:nvPr/>
        </p:nvSpPr>
        <p:spPr>
          <a:xfrm>
            <a:off x="685800" y="1917700"/>
            <a:ext cx="2857500" cy="9906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1" name="TextBox 9"/>
          <p:cNvSpPr txBox="1"/>
          <p:nvPr/>
        </p:nvSpPr>
        <p:spPr>
          <a:xfrm>
            <a:off x="812800" y="2095500"/>
            <a:ext cx="2603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245BA8"/>
                </a:solidFill>
                <a:latin typeface="Arial"/>
              </a:rPr>
              <a:t>patients</a:t>
            </a:r>
            <a:endParaRPr sz="16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12" name="TextBox 10"/>
          <p:cNvSpPr txBox="1"/>
          <p:nvPr/>
        </p:nvSpPr>
        <p:spPr>
          <a:xfrm>
            <a:off x="812800" y="2501900"/>
            <a:ext cx="26035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26880"/>
                </a:solidFill>
                <a:latin typeface="Arial"/>
              </a:rPr>
              <a:t>Пациент</a:t>
            </a:r>
            <a:endParaRPr sz="13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13" name="Rectangle 11"/>
          <p:cNvSpPr/>
          <p:nvPr/>
        </p:nvSpPr>
        <p:spPr>
          <a:xfrm>
            <a:off x="4673600" y="1917700"/>
            <a:ext cx="2857500" cy="9906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4" name="TextBox 12"/>
          <p:cNvSpPr txBox="1"/>
          <p:nvPr/>
        </p:nvSpPr>
        <p:spPr>
          <a:xfrm>
            <a:off x="4800600" y="2095500"/>
            <a:ext cx="2603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245BA8"/>
                </a:solidFill>
                <a:latin typeface="Arial"/>
              </a:rPr>
              <a:t>appointments</a:t>
            </a:r>
            <a:endParaRPr sz="16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15" name="TextBox 13"/>
          <p:cNvSpPr txBox="1"/>
          <p:nvPr/>
        </p:nvSpPr>
        <p:spPr>
          <a:xfrm>
            <a:off x="4800600" y="2501900"/>
            <a:ext cx="26035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26880"/>
                </a:solidFill>
                <a:latin typeface="Arial"/>
              </a:rPr>
              <a:t>Қабылдау</a:t>
            </a:r>
            <a:endParaRPr sz="13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16" name="Rectangle 14"/>
          <p:cNvSpPr/>
          <p:nvPr/>
        </p:nvSpPr>
        <p:spPr>
          <a:xfrm>
            <a:off x="8636000" y="1917700"/>
            <a:ext cx="2857500" cy="9906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7" name="TextBox 15"/>
          <p:cNvSpPr txBox="1"/>
          <p:nvPr/>
        </p:nvSpPr>
        <p:spPr>
          <a:xfrm>
            <a:off x="8763000" y="2095500"/>
            <a:ext cx="2603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245BA8"/>
                </a:solidFill>
                <a:latin typeface="Arial"/>
              </a:rPr>
              <a:t>doctors</a:t>
            </a:r>
            <a:endParaRPr sz="16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18" name="TextBox 16"/>
          <p:cNvSpPr txBox="1"/>
          <p:nvPr/>
        </p:nvSpPr>
        <p:spPr>
          <a:xfrm>
            <a:off x="8763000" y="2501900"/>
            <a:ext cx="26035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26880"/>
                </a:solidFill>
                <a:latin typeface="Arial"/>
              </a:rPr>
              <a:t>Дәрігер</a:t>
            </a:r>
            <a:endParaRPr sz="13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19" name="Rectangle 17"/>
          <p:cNvSpPr/>
          <p:nvPr/>
        </p:nvSpPr>
        <p:spPr>
          <a:xfrm>
            <a:off x="4673600" y="3733800"/>
            <a:ext cx="2857500" cy="9906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0" name="TextBox 18"/>
          <p:cNvSpPr txBox="1"/>
          <p:nvPr/>
        </p:nvSpPr>
        <p:spPr>
          <a:xfrm>
            <a:off x="4800600" y="3911600"/>
            <a:ext cx="2603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245BA8"/>
                </a:solidFill>
                <a:latin typeface="Arial"/>
              </a:rPr>
              <a:t>medical_records</a:t>
            </a:r>
            <a:endParaRPr sz="16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21" name="TextBox 19"/>
          <p:cNvSpPr txBox="1"/>
          <p:nvPr/>
        </p:nvSpPr>
        <p:spPr>
          <a:xfrm>
            <a:off x="4800600" y="4318000"/>
            <a:ext cx="26035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26880"/>
                </a:solidFill>
                <a:latin typeface="Arial"/>
              </a:rPr>
              <a:t>Медициналық жазба</a:t>
            </a:r>
            <a:endParaRPr sz="13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22" name="Rectangle 20"/>
          <p:cNvSpPr/>
          <p:nvPr/>
        </p:nvSpPr>
        <p:spPr>
          <a:xfrm>
            <a:off x="8636000" y="3733800"/>
            <a:ext cx="2857500" cy="9906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3" name="TextBox 21"/>
          <p:cNvSpPr txBox="1"/>
          <p:nvPr/>
        </p:nvSpPr>
        <p:spPr>
          <a:xfrm>
            <a:off x="8763000" y="3911600"/>
            <a:ext cx="2603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245BA8"/>
                </a:solidFill>
                <a:latin typeface="Arial"/>
              </a:rPr>
              <a:t>prescriptions</a:t>
            </a:r>
            <a:endParaRPr sz="16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24" name="TextBox 22"/>
          <p:cNvSpPr txBox="1"/>
          <p:nvPr/>
        </p:nvSpPr>
        <p:spPr>
          <a:xfrm>
            <a:off x="8763000" y="4318000"/>
            <a:ext cx="26035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26880"/>
                </a:solidFill>
                <a:latin typeface="Arial"/>
              </a:rPr>
              <a:t>Рецепттер</a:t>
            </a:r>
            <a:endParaRPr sz="13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25" name="TextBox 23"/>
          <p:cNvSpPr txBox="1"/>
          <p:nvPr/>
        </p:nvSpPr>
        <p:spPr>
          <a:xfrm>
            <a:off x="3556000" y="2247900"/>
            <a:ext cx="10922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087C7D"/>
                </a:solidFill>
                <a:latin typeface="Arial"/>
              </a:rPr>
              <a:t>1  →  N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26" name="TextBox 24"/>
          <p:cNvSpPr txBox="1"/>
          <p:nvPr/>
        </p:nvSpPr>
        <p:spPr>
          <a:xfrm>
            <a:off x="7543800" y="2247900"/>
            <a:ext cx="10668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087C7D"/>
                </a:solidFill>
                <a:latin typeface="Arial"/>
              </a:rPr>
              <a:t>N  ←  1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27" name="TextBox 25"/>
          <p:cNvSpPr txBox="1"/>
          <p:nvPr/>
        </p:nvSpPr>
        <p:spPr>
          <a:xfrm>
            <a:off x="5080000" y="3175000"/>
            <a:ext cx="20574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087C7D"/>
                </a:solidFill>
                <a:latin typeface="Arial"/>
              </a:rPr>
              <a:t>1  ↓  0..1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28" name="TextBox 26"/>
          <p:cNvSpPr txBox="1"/>
          <p:nvPr/>
        </p:nvSpPr>
        <p:spPr>
          <a:xfrm>
            <a:off x="7556500" y="4064000"/>
            <a:ext cx="10541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1">
                <a:solidFill>
                  <a:srgbClr val="087C7D"/>
                </a:solidFill>
                <a:latin typeface="Arial"/>
              </a:rPr>
              <a:t>1  →  0..N</a:t>
            </a:r>
            <a:endParaRPr sz="13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29" name="Rectangle 27"/>
          <p:cNvSpPr/>
          <p:nvPr/>
        </p:nvSpPr>
        <p:spPr>
          <a:xfrm>
            <a:off x="685800" y="5156200"/>
            <a:ext cx="10795000" cy="622300"/>
          </a:xfrm>
          <a:prstGeom prst="rect">
            <a:avLst/>
          </a:prstGeom>
          <a:solidFill>
            <a:srgbClr val="DDF2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0" name="TextBox 28"/>
          <p:cNvSpPr txBox="1"/>
          <p:nvPr/>
        </p:nvSpPr>
        <p:spPr>
          <a:xfrm>
            <a:off x="889000" y="5321300"/>
            <a:ext cx="7175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1">
                <a:solidFill>
                  <a:srgbClr val="142A46"/>
                </a:solidFill>
                <a:latin typeface="Arial"/>
              </a:rPr>
              <a:t>users  ↔  patient_accounts  ↔  patients</a:t>
            </a:r>
            <a:endParaRPr sz="16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31" name="TextBox 29"/>
          <p:cNvSpPr txBox="1"/>
          <p:nvPr/>
        </p:nvSpPr>
        <p:spPr>
          <a:xfrm>
            <a:off x="7912100" y="5334000"/>
            <a:ext cx="33528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300" b="1">
                <a:solidFill>
                  <a:srgbClr val="087C7D"/>
                </a:solidFill>
                <a:latin typeface="Arial"/>
              </a:rPr>
              <a:t>Карточка аккаунтсыз бола алады.</a:t>
            </a:r>
            <a:endParaRPr sz="1300" b="1">
              <a:solidFill>
                <a:srgbClr val="087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1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4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5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F4BC61"/>
                </a:solidFill>
                <a:latin typeface="Arial"/>
              </a:rPr>
              <a:t>УАҚЫТ ҚАҚТЫҒЫСЫ</a:t>
            </a:r>
            <a:endParaRPr sz="10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436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Бір уақытты екі рет алуға бола ма?</a:t>
            </a:r>
            <a:endParaRPr sz="29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36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8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AFC2D8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439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AFC2D8"/>
                </a:solidFill>
                <a:latin typeface="Arial"/>
              </a:rPr>
              <a:t>07</a:t>
            </a:r>
            <a:endParaRPr sz="10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440" name="TextBox 8"/>
          <p:cNvSpPr txBox="1"/>
          <p:nvPr/>
        </p:nvSpPr>
        <p:spPr>
          <a:xfrm>
            <a:off x="698500" y="1727200"/>
            <a:ext cx="53340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Бірегей индекс (UNIQUE)</a:t>
            </a:r>
            <a:endParaRPr sz="2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Rectangle 9"/>
          <p:cNvSpPr/>
          <p:nvPr/>
        </p:nvSpPr>
        <p:spPr>
          <a:xfrm>
            <a:off x="698500" y="2235200"/>
            <a:ext cx="10795000" cy="8382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2" name="TextBox 10"/>
          <p:cNvSpPr txBox="1"/>
          <p:nvPr/>
        </p:nvSpPr>
        <p:spPr>
          <a:xfrm>
            <a:off x="952500" y="2501900"/>
            <a:ext cx="10287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doctor_id  +  appointment_date  +  appointment_time  +  occupied_slot</a:t>
            </a:r>
            <a:endParaRPr sz="18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Box 11"/>
          <p:cNvSpPr txBox="1"/>
          <p:nvPr/>
        </p:nvSpPr>
        <p:spPr>
          <a:xfrm>
            <a:off x="698500" y="3429000"/>
            <a:ext cx="3175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F4BC61"/>
                </a:solidFill>
                <a:latin typeface="Arial"/>
              </a:rPr>
              <a:t>ОҚУ МЫСАЛЫ</a:t>
            </a:r>
            <a:endParaRPr sz="11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444" name="Rectangle 12"/>
          <p:cNvSpPr/>
          <p:nvPr/>
        </p:nvSpPr>
        <p:spPr>
          <a:xfrm>
            <a:off x="698500" y="3822700"/>
            <a:ext cx="10795000" cy="5715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5" name="TextBox 13"/>
          <p:cNvSpPr txBox="1"/>
          <p:nvPr/>
        </p:nvSpPr>
        <p:spPr>
          <a:xfrm>
            <a:off x="889000" y="3949700"/>
            <a:ext cx="1206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1">
                <a:solidFill>
                  <a:srgbClr val="F4BC61"/>
                </a:solidFill>
                <a:latin typeface="Arial"/>
              </a:rPr>
              <a:t>09:00</a:t>
            </a:r>
            <a:endParaRPr sz="16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446" name="TextBox 14"/>
          <p:cNvSpPr txBox="1"/>
          <p:nvPr/>
        </p:nvSpPr>
        <p:spPr>
          <a:xfrm>
            <a:off x="2146300" y="3949700"/>
            <a:ext cx="2794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Алғашқы жазба</a:t>
            </a:r>
            <a:endParaRPr sz="1500" b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Box 15"/>
          <p:cNvSpPr txBox="1"/>
          <p:nvPr/>
        </p:nvSpPr>
        <p:spPr>
          <a:xfrm>
            <a:off x="5130800" y="3949700"/>
            <a:ext cx="1968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Scheduled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448" name="TextBox 16"/>
          <p:cNvSpPr txBox="1"/>
          <p:nvPr/>
        </p:nvSpPr>
        <p:spPr>
          <a:xfrm>
            <a:off x="7340600" y="3949700"/>
            <a:ext cx="3810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Уақыт бос емес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Rectangle 17"/>
          <p:cNvSpPr/>
          <p:nvPr/>
        </p:nvSpPr>
        <p:spPr>
          <a:xfrm>
            <a:off x="698500" y="4445000"/>
            <a:ext cx="10795000" cy="571500"/>
          </a:xfrm>
          <a:prstGeom prst="rect">
            <a:avLst/>
          </a:prstGeom>
          <a:solidFill>
            <a:srgbClr val="122F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0" name="TextBox 18"/>
          <p:cNvSpPr txBox="1"/>
          <p:nvPr/>
        </p:nvSpPr>
        <p:spPr>
          <a:xfrm>
            <a:off x="889000" y="4572000"/>
            <a:ext cx="1206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1">
                <a:solidFill>
                  <a:srgbClr val="F4BC61"/>
                </a:solidFill>
                <a:latin typeface="Arial"/>
              </a:rPr>
              <a:t>09:00</a:t>
            </a:r>
            <a:endParaRPr sz="16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451" name="TextBox 19"/>
          <p:cNvSpPr txBox="1"/>
          <p:nvPr/>
        </p:nvSpPr>
        <p:spPr>
          <a:xfrm>
            <a:off x="2146300" y="4572000"/>
            <a:ext cx="2794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Екінші жазба</a:t>
            </a:r>
            <a:endParaRPr sz="1500" b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Box 20"/>
          <p:cNvSpPr txBox="1"/>
          <p:nvPr/>
        </p:nvSpPr>
        <p:spPr>
          <a:xfrm>
            <a:off x="5130800" y="4572000"/>
            <a:ext cx="1968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Scheduled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453" name="TextBox 21"/>
          <p:cNvSpPr txBox="1"/>
          <p:nvPr/>
        </p:nvSpPr>
        <p:spPr>
          <a:xfrm>
            <a:off x="7340600" y="4572000"/>
            <a:ext cx="3810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Қақтығыс: рұқсат жоқ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Rectangle 22"/>
          <p:cNvSpPr/>
          <p:nvPr/>
        </p:nvSpPr>
        <p:spPr>
          <a:xfrm>
            <a:off x="698500" y="5067300"/>
            <a:ext cx="10795000" cy="5715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5" name="TextBox 23"/>
          <p:cNvSpPr txBox="1"/>
          <p:nvPr/>
        </p:nvSpPr>
        <p:spPr>
          <a:xfrm>
            <a:off x="889000" y="5194300"/>
            <a:ext cx="1206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1">
                <a:solidFill>
                  <a:srgbClr val="F4BC61"/>
                </a:solidFill>
                <a:latin typeface="Arial"/>
              </a:rPr>
              <a:t>09:00</a:t>
            </a:r>
            <a:endParaRPr sz="16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456" name="TextBox 24"/>
          <p:cNvSpPr txBox="1"/>
          <p:nvPr/>
        </p:nvSpPr>
        <p:spPr>
          <a:xfrm>
            <a:off x="2146300" y="5194300"/>
            <a:ext cx="2794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Алғашқы жазба</a:t>
            </a:r>
            <a:endParaRPr sz="1500" b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Box 25"/>
          <p:cNvSpPr txBox="1"/>
          <p:nvPr/>
        </p:nvSpPr>
        <p:spPr>
          <a:xfrm>
            <a:off x="5130800" y="5194300"/>
            <a:ext cx="1968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Cancelled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458" name="TextBox 26"/>
          <p:cNvSpPr txBox="1"/>
          <p:nvPr/>
        </p:nvSpPr>
        <p:spPr>
          <a:xfrm>
            <a:off x="7340600" y="5194300"/>
            <a:ext cx="3810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Уақыт қайта босайды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27"/>
          <p:cNvSpPr txBox="1"/>
          <p:nvPr/>
        </p:nvSpPr>
        <p:spPr>
          <a:xfrm>
            <a:off x="698500" y="5892800"/>
            <a:ext cx="107950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0">
                <a:solidFill>
                  <a:srgbClr val="AFC2D8"/>
                </a:solidFill>
                <a:latin typeface="Arial"/>
              </a:rPr>
              <a:t>Scheduled / Completed → 1; Cancelled → NULL. Дәл бірдей басталу уақыты қорғалады.</a:t>
            </a:r>
            <a:endParaRPr sz="1300" b="0">
              <a:solidFill>
                <a:srgbClr val="AFC2D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2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3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ОНЛАЙН ЖАЗЫЛУ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64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Пациент қалай жазылады?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65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6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67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08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pic>
        <p:nvPicPr>
          <p:cNvPr id="469" name="Picture 8" descr="booking.png"/>
          <p:cNvPicPr>
            <a:picLocks noChangeAspect="1"/>
          </p:cNvPicPr>
          <p:nvPr/>
        </p:nvPicPr>
        <p:blipFill rotWithShape="1">
          <a:blip r:embed="rId2"/>
          <a:srcRect l="19000" t="0" r="0" b="19000"/>
          <a:stretch>
            <a:fillRect/>
          </a:stretch>
        </p:blipFill>
        <p:spPr>
          <a:xfrm>
            <a:off x="5295900" y="1828800"/>
            <a:ext cx="6197600" cy="4356100"/>
          </a:xfrm>
          <a:prstGeom prst="rect">
            <a:avLst/>
          </a:prstGeom>
        </p:spPr>
      </p:pic>
      <p:sp>
        <p:nvSpPr>
          <p:cNvPr id="470" name="TextBox 9"/>
          <p:cNvSpPr txBox="1"/>
          <p:nvPr/>
        </p:nvSpPr>
        <p:spPr>
          <a:xfrm>
            <a:off x="660400" y="1892300"/>
            <a:ext cx="6096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200" b="1">
                <a:solidFill>
                  <a:srgbClr val="087C7D"/>
                </a:solidFill>
                <a:latin typeface="Arial"/>
              </a:rPr>
              <a:t>01</a:t>
            </a:r>
            <a:endParaRPr sz="2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71" name="TextBox 10"/>
          <p:cNvSpPr txBox="1"/>
          <p:nvPr/>
        </p:nvSpPr>
        <p:spPr>
          <a:xfrm>
            <a:off x="1333500" y="1892300"/>
            <a:ext cx="34925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42A46"/>
                </a:solidFill>
                <a:latin typeface="Arial"/>
              </a:rPr>
              <a:t>Аккаунт</a:t>
            </a:r>
            <a:endParaRPr sz="1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72" name="TextBox 11"/>
          <p:cNvSpPr txBox="1"/>
          <p:nvPr/>
        </p:nvSpPr>
        <p:spPr>
          <a:xfrm>
            <a:off x="1333500" y="2324100"/>
            <a:ext cx="36195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26880"/>
                </a:solidFill>
                <a:latin typeface="Arial"/>
              </a:rPr>
              <a:t>Пациент тіркеледі: жаңа аккаунт және жаңа карточка.</a:t>
            </a:r>
            <a:endParaRPr sz="15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73" name="TextBox 12"/>
          <p:cNvSpPr txBox="1"/>
          <p:nvPr/>
        </p:nvSpPr>
        <p:spPr>
          <a:xfrm>
            <a:off x="660400" y="2997200"/>
            <a:ext cx="6096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200" b="1">
                <a:solidFill>
                  <a:srgbClr val="087C7D"/>
                </a:solidFill>
                <a:latin typeface="Arial"/>
              </a:rPr>
              <a:t>02</a:t>
            </a:r>
            <a:endParaRPr sz="2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74" name="TextBox 13"/>
          <p:cNvSpPr txBox="1"/>
          <p:nvPr/>
        </p:nvSpPr>
        <p:spPr>
          <a:xfrm>
            <a:off x="1333500" y="2997200"/>
            <a:ext cx="34925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42A46"/>
                </a:solidFill>
                <a:latin typeface="Arial"/>
              </a:rPr>
              <a:t>Уақыт</a:t>
            </a:r>
            <a:endParaRPr sz="1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75" name="TextBox 14"/>
          <p:cNvSpPr txBox="1"/>
          <p:nvPr/>
        </p:nvSpPr>
        <p:spPr>
          <a:xfrm>
            <a:off x="1333500" y="3429000"/>
            <a:ext cx="36195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26880"/>
                </a:solidFill>
                <a:latin typeface="Arial"/>
              </a:rPr>
              <a:t>Дәрігер мен күн таңдалады; бос уақыттар ғана көрсетіледі.</a:t>
            </a:r>
            <a:endParaRPr sz="15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76" name="TextBox 15"/>
          <p:cNvSpPr txBox="1"/>
          <p:nvPr/>
        </p:nvSpPr>
        <p:spPr>
          <a:xfrm>
            <a:off x="660400" y="4102100"/>
            <a:ext cx="6096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200" b="1">
                <a:solidFill>
                  <a:srgbClr val="087C7D"/>
                </a:solidFill>
                <a:latin typeface="Arial"/>
              </a:rPr>
              <a:t>03</a:t>
            </a:r>
            <a:endParaRPr sz="2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77" name="TextBox 16"/>
          <p:cNvSpPr txBox="1"/>
          <p:nvPr/>
        </p:nvSpPr>
        <p:spPr>
          <a:xfrm>
            <a:off x="1333500" y="4102100"/>
            <a:ext cx="34925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42A46"/>
                </a:solidFill>
                <a:latin typeface="Arial"/>
              </a:rPr>
              <a:t>Растау</a:t>
            </a:r>
            <a:endParaRPr sz="1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78" name="TextBox 17"/>
          <p:cNvSpPr txBox="1"/>
          <p:nvPr/>
        </p:nvSpPr>
        <p:spPr>
          <a:xfrm>
            <a:off x="1333500" y="4533900"/>
            <a:ext cx="36195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26880"/>
                </a:solidFill>
                <a:latin typeface="Arial"/>
              </a:rPr>
              <a:t>Қабылдау өз тізіміне қосылады; бас тарту қолжетімді.</a:t>
            </a:r>
            <a:endParaRPr sz="15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79" name="Rectangle 18"/>
          <p:cNvSpPr/>
          <p:nvPr/>
        </p:nvSpPr>
        <p:spPr>
          <a:xfrm>
            <a:off x="660400" y="5295900"/>
            <a:ext cx="4152900" cy="660400"/>
          </a:xfrm>
          <a:prstGeom prst="rect">
            <a:avLst/>
          </a:prstGeom>
          <a:solidFill>
            <a:srgbClr val="DDF2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0" name="TextBox 19"/>
          <p:cNvSpPr txBox="1"/>
          <p:nvPr/>
        </p:nvSpPr>
        <p:spPr>
          <a:xfrm>
            <a:off x="825500" y="5499100"/>
            <a:ext cx="3810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1">
                <a:solidFill>
                  <a:srgbClr val="087C7D"/>
                </a:solidFill>
                <a:latin typeface="Arial"/>
              </a:rPr>
              <a:t>90 күн · 09:00–17:00 · 30 минут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4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ДӘРІГЕР ЖҰМЫСЫ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85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Қабылдау нәтижесі қалай сақталады?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86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7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88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09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pic>
        <p:nvPicPr>
          <p:cNvPr id="490" name="Picture 8" descr="consultation.png"/>
          <p:cNvPicPr>
            <a:picLocks noChangeAspect="1"/>
          </p:cNvPicPr>
          <p:nvPr/>
        </p:nvPicPr>
        <p:blipFill rotWithShape="1">
          <a:blip r:embed="rId2"/>
          <a:srcRect l="19000" t="0" r="0" b="19000"/>
          <a:stretch>
            <a:fillRect/>
          </a:stretch>
        </p:blipFill>
        <p:spPr>
          <a:xfrm>
            <a:off x="5829300" y="1841500"/>
            <a:ext cx="5664200" cy="3987800"/>
          </a:xfrm>
          <a:prstGeom prst="rect">
            <a:avLst/>
          </a:prstGeom>
        </p:spPr>
      </p:pic>
      <p:sp>
        <p:nvSpPr>
          <p:cNvPr id="491" name="TextBox 9"/>
          <p:cNvSpPr txBox="1"/>
          <p:nvPr/>
        </p:nvSpPr>
        <p:spPr>
          <a:xfrm>
            <a:off x="660400" y="1917700"/>
            <a:ext cx="46990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142A46"/>
                </a:solidFill>
                <a:latin typeface="Arial"/>
              </a:rPr>
              <a:t>Қабылдау ашылады</a:t>
            </a:r>
            <a:endParaRPr sz="20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92" name="TextBox 10"/>
          <p:cNvSpPr txBox="1"/>
          <p:nvPr/>
        </p:nvSpPr>
        <p:spPr>
          <a:xfrm>
            <a:off x="660400" y="2362200"/>
            <a:ext cx="46990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26880"/>
                </a:solidFill>
                <a:latin typeface="Arial"/>
              </a:rPr>
              <a:t>Дәрігер тек өзіне тағайындалған жазбаны өңдейді.</a:t>
            </a:r>
            <a:endParaRPr sz="16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93" name="TextBox 11"/>
          <p:cNvSpPr txBox="1"/>
          <p:nvPr/>
        </p:nvSpPr>
        <p:spPr>
          <a:xfrm>
            <a:off x="736600" y="3009900"/>
            <a:ext cx="5715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200" b="1">
                <a:solidFill>
                  <a:srgbClr val="087C7D"/>
                </a:solidFill>
                <a:latin typeface="Arial"/>
              </a:rPr>
              <a:t>↓</a:t>
            </a:r>
            <a:endParaRPr sz="2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94" name="TextBox 12"/>
          <p:cNvSpPr txBox="1"/>
          <p:nvPr/>
        </p:nvSpPr>
        <p:spPr>
          <a:xfrm>
            <a:off x="660400" y="3403600"/>
            <a:ext cx="47752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42A46"/>
                </a:solidFill>
                <a:latin typeface="Arial"/>
              </a:rPr>
              <a:t>Диагноз және ем енгізіледі</a:t>
            </a:r>
            <a:endParaRPr sz="1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95" name="TextBox 13"/>
          <p:cNvSpPr txBox="1"/>
          <p:nvPr/>
        </p:nvSpPr>
        <p:spPr>
          <a:xfrm>
            <a:off x="660400" y="3835400"/>
            <a:ext cx="46990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26880"/>
                </a:solidFill>
                <a:latin typeface="Arial"/>
              </a:rPr>
              <a:t>Медициналық жазба + мәртебе бір транзакцияда сақталады.</a:t>
            </a:r>
            <a:endParaRPr sz="16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496" name="TextBox 14"/>
          <p:cNvSpPr txBox="1"/>
          <p:nvPr/>
        </p:nvSpPr>
        <p:spPr>
          <a:xfrm>
            <a:off x="736600" y="4559300"/>
            <a:ext cx="5715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200" b="1">
                <a:solidFill>
                  <a:srgbClr val="087C7D"/>
                </a:solidFill>
                <a:latin typeface="Arial"/>
              </a:rPr>
              <a:t>↓</a:t>
            </a:r>
            <a:endParaRPr sz="2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497" name="TextBox 15"/>
          <p:cNvSpPr txBox="1"/>
          <p:nvPr/>
        </p:nvSpPr>
        <p:spPr>
          <a:xfrm>
            <a:off x="660400" y="4953000"/>
            <a:ext cx="47752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42A46"/>
                </a:solidFill>
                <a:latin typeface="Arial"/>
              </a:rPr>
              <a:t>Рецепт жазбаға тіркеледі</a:t>
            </a:r>
            <a:endParaRPr sz="1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498" name="TextBox 16"/>
          <p:cNvSpPr txBox="1"/>
          <p:nvPr/>
        </p:nvSpPr>
        <p:spPr>
          <a:xfrm>
            <a:off x="660400" y="5448300"/>
            <a:ext cx="4826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1">
                <a:solidFill>
                  <a:srgbClr val="245BA8"/>
                </a:solidFill>
                <a:latin typeface="Arial"/>
              </a:rPr>
              <a:t>Аяқталған қабылдаудан бас тартуға болмайды.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1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2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ҚАУІПСІЗДІК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03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Деректерге кім қол жеткізе алады?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504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5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06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10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07" name="TextBox 8"/>
          <p:cNvSpPr txBox="1"/>
          <p:nvPr/>
        </p:nvSpPr>
        <p:spPr>
          <a:xfrm>
            <a:off x="660400" y="1778000"/>
            <a:ext cx="50800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087C7D"/>
                </a:solidFill>
                <a:latin typeface="Arial"/>
              </a:rPr>
              <a:t>ҚОРҒАУ ҚАБАТТАРЫ</a:t>
            </a:r>
            <a:endParaRPr sz="1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08" name="Rectangle 9"/>
          <p:cNvSpPr/>
          <p:nvPr/>
        </p:nvSpPr>
        <p:spPr>
          <a:xfrm>
            <a:off x="660400" y="2184400"/>
            <a:ext cx="444500" cy="444500"/>
          </a:xfrm>
          <a:prstGeom prst="rect">
            <a:avLst/>
          </a:prstGeom>
          <a:solidFill>
            <a:srgbClr val="DDF2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9" name="TextBox 10"/>
          <p:cNvSpPr txBox="1"/>
          <p:nvPr/>
        </p:nvSpPr>
        <p:spPr>
          <a:xfrm>
            <a:off x="660400" y="2273300"/>
            <a:ext cx="444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087C7D"/>
                </a:solidFill>
                <a:latin typeface="Arial"/>
              </a:rPr>
              <a:t>1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10" name="TextBox 11"/>
          <p:cNvSpPr txBox="1"/>
          <p:nvPr/>
        </p:nvSpPr>
        <p:spPr>
          <a:xfrm>
            <a:off x="1282700" y="2184400"/>
            <a:ext cx="41783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42A46"/>
                </a:solidFill>
                <a:latin typeface="Arial"/>
              </a:rPr>
              <a:t>Сессия және рөл</a:t>
            </a:r>
            <a:endParaRPr sz="17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511" name="TextBox 12"/>
          <p:cNvSpPr txBox="1"/>
          <p:nvPr/>
        </p:nvSpPr>
        <p:spPr>
          <a:xfrm>
            <a:off x="1282700" y="2527300"/>
            <a:ext cx="41783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26880"/>
                </a:solidFill>
                <a:latin typeface="Arial"/>
              </a:rPr>
              <a:t>Әр қорғалған бетте белсенді аккаунт тексеріледі.</a:t>
            </a:r>
            <a:endParaRPr sz="14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12" name="Rectangle 13"/>
          <p:cNvSpPr/>
          <p:nvPr/>
        </p:nvSpPr>
        <p:spPr>
          <a:xfrm>
            <a:off x="660400" y="3035300"/>
            <a:ext cx="444500" cy="444500"/>
          </a:xfrm>
          <a:prstGeom prst="rect">
            <a:avLst/>
          </a:prstGeom>
          <a:solidFill>
            <a:srgbClr val="DDF2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3" name="TextBox 14"/>
          <p:cNvSpPr txBox="1"/>
          <p:nvPr/>
        </p:nvSpPr>
        <p:spPr>
          <a:xfrm>
            <a:off x="660400" y="3124200"/>
            <a:ext cx="444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087C7D"/>
                </a:solidFill>
                <a:latin typeface="Arial"/>
              </a:rPr>
              <a:t>2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14" name="TextBox 15"/>
          <p:cNvSpPr txBox="1"/>
          <p:nvPr/>
        </p:nvSpPr>
        <p:spPr>
          <a:xfrm>
            <a:off x="1282700" y="3035300"/>
            <a:ext cx="41783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42A46"/>
                </a:solidFill>
                <a:latin typeface="Arial"/>
              </a:rPr>
              <a:t>Дерек иесі</a:t>
            </a:r>
            <a:endParaRPr sz="17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515" name="TextBox 16"/>
          <p:cNvSpPr txBox="1"/>
          <p:nvPr/>
        </p:nvSpPr>
        <p:spPr>
          <a:xfrm>
            <a:off x="1282700" y="3378200"/>
            <a:ext cx="41783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26880"/>
                </a:solidFill>
                <a:latin typeface="Arial"/>
              </a:rPr>
              <a:t>Пациент тек өз қабылдауын өзгерте алады.</a:t>
            </a:r>
            <a:endParaRPr sz="14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16" name="Rectangle 17"/>
          <p:cNvSpPr/>
          <p:nvPr/>
        </p:nvSpPr>
        <p:spPr>
          <a:xfrm>
            <a:off x="660400" y="3886200"/>
            <a:ext cx="444500" cy="444500"/>
          </a:xfrm>
          <a:prstGeom prst="rect">
            <a:avLst/>
          </a:prstGeom>
          <a:solidFill>
            <a:srgbClr val="DDF2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7" name="TextBox 18"/>
          <p:cNvSpPr txBox="1"/>
          <p:nvPr/>
        </p:nvSpPr>
        <p:spPr>
          <a:xfrm>
            <a:off x="660400" y="3975100"/>
            <a:ext cx="444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087C7D"/>
                </a:solidFill>
                <a:latin typeface="Arial"/>
              </a:rPr>
              <a:t>3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18" name="TextBox 19"/>
          <p:cNvSpPr txBox="1"/>
          <p:nvPr/>
        </p:nvSpPr>
        <p:spPr>
          <a:xfrm>
            <a:off x="1282700" y="3886200"/>
            <a:ext cx="41783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42A46"/>
                </a:solidFill>
                <a:latin typeface="Arial"/>
              </a:rPr>
              <a:t>Сұрауды тексеру</a:t>
            </a:r>
            <a:endParaRPr sz="17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519" name="TextBox 20"/>
          <p:cNvSpPr txBox="1"/>
          <p:nvPr/>
        </p:nvSpPr>
        <p:spPr>
          <a:xfrm>
            <a:off x="1282700" y="4229100"/>
            <a:ext cx="41783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26880"/>
                </a:solidFill>
                <a:latin typeface="Arial"/>
              </a:rPr>
              <a:t>CSRF токені, PDO параметрлері, HTML экрандау.</a:t>
            </a:r>
            <a:endParaRPr sz="14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20" name="Rectangle 21"/>
          <p:cNvSpPr/>
          <p:nvPr/>
        </p:nvSpPr>
        <p:spPr>
          <a:xfrm>
            <a:off x="660400" y="4737100"/>
            <a:ext cx="444500" cy="444500"/>
          </a:xfrm>
          <a:prstGeom prst="rect">
            <a:avLst/>
          </a:prstGeom>
          <a:solidFill>
            <a:srgbClr val="DDF2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1" name="TextBox 22"/>
          <p:cNvSpPr txBox="1"/>
          <p:nvPr/>
        </p:nvSpPr>
        <p:spPr>
          <a:xfrm>
            <a:off x="660400" y="4826000"/>
            <a:ext cx="4445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087C7D"/>
                </a:solidFill>
                <a:latin typeface="Arial"/>
              </a:rPr>
              <a:t>4</a:t>
            </a:r>
            <a:endParaRPr sz="14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22" name="TextBox 23"/>
          <p:cNvSpPr txBox="1"/>
          <p:nvPr/>
        </p:nvSpPr>
        <p:spPr>
          <a:xfrm>
            <a:off x="1282700" y="4737100"/>
            <a:ext cx="41783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42A46"/>
                </a:solidFill>
                <a:latin typeface="Arial"/>
              </a:rPr>
              <a:t>Құпиясөз</a:t>
            </a:r>
            <a:endParaRPr sz="17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523" name="TextBox 24"/>
          <p:cNvSpPr txBox="1"/>
          <p:nvPr/>
        </p:nvSpPr>
        <p:spPr>
          <a:xfrm>
            <a:off x="1282700" y="5080000"/>
            <a:ext cx="4178300" cy="4267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26880"/>
                </a:solidFill>
                <a:latin typeface="Arial"/>
              </a:rPr>
              <a:t>Хэш сақталып, password_verify арқылы тексеріледі.</a:t>
            </a:r>
            <a:endParaRPr sz="14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24" name="Rectangle 25"/>
          <p:cNvSpPr/>
          <p:nvPr/>
        </p:nvSpPr>
        <p:spPr>
          <a:xfrm>
            <a:off x="5918200" y="1778000"/>
            <a:ext cx="5588000" cy="346710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5" name="TextBox 26"/>
          <p:cNvSpPr txBox="1"/>
          <p:nvPr/>
        </p:nvSpPr>
        <p:spPr>
          <a:xfrm>
            <a:off x="6197600" y="2044700"/>
            <a:ext cx="50419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F4BC61"/>
                </a:solidFill>
                <a:latin typeface="Arial"/>
              </a:rPr>
              <a:t>ПАЦИЕНТ ИЕЛІГІ · МЫСАЛ</a:t>
            </a:r>
            <a:endParaRPr sz="11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526" name="TextBox 27"/>
          <p:cNvSpPr txBox="1"/>
          <p:nvPr/>
        </p:nvSpPr>
        <p:spPr>
          <a:xfrm>
            <a:off x="6197600" y="2603500"/>
            <a:ext cx="5016500" cy="868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0">
                <a:solidFill>
                  <a:srgbClr val="FFFFFF"/>
                </a:solidFill>
                <a:latin typeface="Consolas"/>
              </a:rPr>
              <a:t>SELECT patient_id</a:t>
            </a:r>
            <a:endParaRPr sz="1900" b="0">
              <a:solidFill>
                <a:srgbClr val="FFFFFF"/>
              </a:solidFill>
              <a:latin typeface="Consolas"/>
            </a:endParaRPr>
          </a:p>
          <a:p>
            <a:r>
              <a:rPr sz="1900" b="0">
                <a:solidFill>
                  <a:srgbClr val="FFFFFF"/>
                </a:solidFill>
                <a:latin typeface="Consolas"/>
              </a:rPr>
              <a:t>FROM patient_accounts</a:t>
            </a:r>
            <a:endParaRPr sz="1900" b="0">
              <a:solidFill>
                <a:srgbClr val="FFFFFF"/>
              </a:solidFill>
              <a:latin typeface="Consolas"/>
            </a:endParaRPr>
          </a:p>
          <a:p>
            <a:r>
              <a:rPr sz="1900" b="0">
                <a:solidFill>
                  <a:srgbClr val="FFFFFF"/>
                </a:solidFill>
                <a:latin typeface="Consolas"/>
              </a:rPr>
              <a:t>WHERE user_id = :session_user</a:t>
            </a:r>
            <a:endParaRPr sz="19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27" name="TextBox 28"/>
          <p:cNvSpPr txBox="1"/>
          <p:nvPr/>
        </p:nvSpPr>
        <p:spPr>
          <a:xfrm>
            <a:off x="6197600" y="4394200"/>
            <a:ext cx="5016500" cy="4267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AFC2D8"/>
                </a:solidFill>
                <a:latin typeface="Arial"/>
              </a:rPr>
              <a:t>patient_id формаға сеніп алынбайды;</a:t>
            </a:r>
            <a:endParaRPr sz="1400" b="0">
              <a:solidFill>
                <a:srgbClr val="AFC2D8"/>
              </a:solidFill>
              <a:latin typeface="Arial"/>
            </a:endParaRPr>
          </a:p>
          <a:p>
            <a:r>
              <a:rPr sz="1400" b="0">
                <a:solidFill>
                  <a:srgbClr val="AFC2D8"/>
                </a:solidFill>
                <a:latin typeface="Arial"/>
              </a:rPr>
              <a:t>ол ағымдағы сессиямен анықталады.</a:t>
            </a:r>
            <a:endParaRPr sz="1400" b="0">
              <a:solidFill>
                <a:srgbClr val="AFC2D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0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1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SQL ЖӘНЕ ЕСЕП БЕРУ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32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Есеп: дәрігердің қабылдау саны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533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4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35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11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36" name="Rectangle 8"/>
          <p:cNvSpPr/>
          <p:nvPr/>
        </p:nvSpPr>
        <p:spPr>
          <a:xfrm>
            <a:off x="660400" y="1765300"/>
            <a:ext cx="7035800" cy="381000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7" name="TextBox 9"/>
          <p:cNvSpPr txBox="1"/>
          <p:nvPr/>
        </p:nvSpPr>
        <p:spPr>
          <a:xfrm>
            <a:off x="914400" y="2006600"/>
            <a:ext cx="64770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F4BC61"/>
                </a:solidFill>
                <a:latin typeface="Arial"/>
              </a:rPr>
              <a:t>JOIN + GROUP BY + COUNT</a:t>
            </a:r>
            <a:endParaRPr sz="12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538" name="TextBox 10"/>
          <p:cNvSpPr txBox="1"/>
          <p:nvPr/>
        </p:nvSpPr>
        <p:spPr>
          <a:xfrm>
            <a:off x="914400" y="2463800"/>
            <a:ext cx="6477000" cy="19507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SELECT u.first_name, u.last_name,</a:t>
            </a:r>
            <a:endParaRPr sz="1600" b="0">
              <a:solidFill>
                <a:srgbClr val="FFFFFF"/>
              </a:solidFill>
              <a:latin typeface="Consolas"/>
            </a:endParaRP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   COUNT(a.id) AS total</a:t>
            </a:r>
            <a:endParaRPr sz="1600" b="0">
              <a:solidFill>
                <a:srgbClr val="FFFFFF"/>
              </a:solidFill>
              <a:latin typeface="Consolas"/>
            </a:endParaRP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FROM doctors d</a:t>
            </a:r>
            <a:endParaRPr sz="1600" b="0">
              <a:solidFill>
                <a:srgbClr val="FFFFFF"/>
              </a:solidFill>
              <a:latin typeface="Consolas"/>
            </a:endParaRP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JOIN users u ON u.id = d.user_id</a:t>
            </a:r>
            <a:endParaRPr sz="1600" b="0">
              <a:solidFill>
                <a:srgbClr val="FFFFFF"/>
              </a:solidFill>
              <a:latin typeface="Consolas"/>
            </a:endParaRP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LEFT JOIN appointments a</a:t>
            </a:r>
            <a:endParaRPr sz="1600" b="0">
              <a:solidFill>
                <a:srgbClr val="FFFFFF"/>
              </a:solidFill>
              <a:latin typeface="Consolas"/>
            </a:endParaRP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   ON a.doctor_id = d.id</a:t>
            </a:r>
            <a:endParaRPr sz="1600" b="0">
              <a:solidFill>
                <a:srgbClr val="FFFFFF"/>
              </a:solidFill>
              <a:latin typeface="Consolas"/>
            </a:endParaRP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GROUP BY d.id, u.first_name,</a:t>
            </a:r>
            <a:endParaRPr sz="1600" b="0">
              <a:solidFill>
                <a:srgbClr val="FFFFFF"/>
              </a:solidFill>
              <a:latin typeface="Consolas"/>
            </a:endParaRP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     u.last_name;</a:t>
            </a:r>
            <a:endParaRPr sz="16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39" name="TextBox 11"/>
          <p:cNvSpPr txBox="1"/>
          <p:nvPr/>
        </p:nvSpPr>
        <p:spPr>
          <a:xfrm>
            <a:off x="8001000" y="1905000"/>
            <a:ext cx="34290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087C7D"/>
                </a:solidFill>
                <a:latin typeface="Arial"/>
              </a:rPr>
              <a:t>НӘТИЖЕ · ОҚУ МЫСАЛЫ</a:t>
            </a:r>
            <a:endParaRPr sz="1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40" name="Rectangle 12"/>
          <p:cNvSpPr/>
          <p:nvPr/>
        </p:nvSpPr>
        <p:spPr>
          <a:xfrm>
            <a:off x="8001000" y="2349500"/>
            <a:ext cx="3479800" cy="4826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1" name="TextBox 13"/>
          <p:cNvSpPr txBox="1"/>
          <p:nvPr/>
        </p:nvSpPr>
        <p:spPr>
          <a:xfrm>
            <a:off x="8178800" y="2476500"/>
            <a:ext cx="20574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Дәрігер</a:t>
            </a:r>
            <a:endParaRPr sz="13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14"/>
          <p:cNvSpPr txBox="1"/>
          <p:nvPr/>
        </p:nvSpPr>
        <p:spPr>
          <a:xfrm>
            <a:off x="10325100" y="2476500"/>
            <a:ext cx="9525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Саны</a:t>
            </a:r>
            <a:endParaRPr sz="13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Rectangle 15"/>
          <p:cNvSpPr/>
          <p:nvPr/>
        </p:nvSpPr>
        <p:spPr>
          <a:xfrm>
            <a:off x="8001000" y="2832100"/>
            <a:ext cx="3479800" cy="5969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4" name="TextBox 16"/>
          <p:cNvSpPr txBox="1"/>
          <p:nvPr/>
        </p:nvSpPr>
        <p:spPr>
          <a:xfrm>
            <a:off x="8178800" y="3009900"/>
            <a:ext cx="21971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1D324B"/>
                </a:solidFill>
                <a:latin typeface="Arial"/>
              </a:rPr>
              <a:t>Әлия Үлгіқызы</a:t>
            </a:r>
            <a:endParaRPr sz="14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45" name="TextBox 17"/>
          <p:cNvSpPr txBox="1"/>
          <p:nvPr/>
        </p:nvSpPr>
        <p:spPr>
          <a:xfrm>
            <a:off x="10414000" y="3009900"/>
            <a:ext cx="8509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400" b="1">
                <a:solidFill>
                  <a:srgbClr val="245BA8"/>
                </a:solidFill>
                <a:latin typeface="Arial"/>
              </a:rPr>
              <a:t>8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546" name="Rectangle 18"/>
          <p:cNvSpPr/>
          <p:nvPr/>
        </p:nvSpPr>
        <p:spPr>
          <a:xfrm>
            <a:off x="8001000" y="3441700"/>
            <a:ext cx="3479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7" name="TextBox 19"/>
          <p:cNvSpPr txBox="1"/>
          <p:nvPr/>
        </p:nvSpPr>
        <p:spPr>
          <a:xfrm>
            <a:off x="8178800" y="3619500"/>
            <a:ext cx="21971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1D324B"/>
                </a:solidFill>
                <a:latin typeface="Arial"/>
              </a:rPr>
              <a:t>Ержан Үлгіұлы</a:t>
            </a:r>
            <a:endParaRPr sz="14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48" name="TextBox 20"/>
          <p:cNvSpPr txBox="1"/>
          <p:nvPr/>
        </p:nvSpPr>
        <p:spPr>
          <a:xfrm>
            <a:off x="10414000" y="3619500"/>
            <a:ext cx="8509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400" b="1">
                <a:solidFill>
                  <a:srgbClr val="245BA8"/>
                </a:solidFill>
                <a:latin typeface="Arial"/>
              </a:rPr>
              <a:t>5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549" name="Rectangle 21"/>
          <p:cNvSpPr/>
          <p:nvPr/>
        </p:nvSpPr>
        <p:spPr>
          <a:xfrm>
            <a:off x="8001000" y="4051300"/>
            <a:ext cx="3479800" cy="5969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0" name="TextBox 22"/>
          <p:cNvSpPr txBox="1"/>
          <p:nvPr/>
        </p:nvSpPr>
        <p:spPr>
          <a:xfrm>
            <a:off x="8178800" y="4229100"/>
            <a:ext cx="21971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1D324B"/>
                </a:solidFill>
                <a:latin typeface="Arial"/>
              </a:rPr>
              <a:t>Мәдина Тестова</a:t>
            </a:r>
            <a:endParaRPr sz="14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51" name="TextBox 23"/>
          <p:cNvSpPr txBox="1"/>
          <p:nvPr/>
        </p:nvSpPr>
        <p:spPr>
          <a:xfrm>
            <a:off x="10414000" y="4229100"/>
            <a:ext cx="8509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400" b="1">
                <a:solidFill>
                  <a:srgbClr val="245BA8"/>
                </a:solidFill>
                <a:latin typeface="Arial"/>
              </a:rPr>
              <a:t>0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552" name="TextBox 24"/>
          <p:cNvSpPr txBox="1"/>
          <p:nvPr/>
        </p:nvSpPr>
        <p:spPr>
          <a:xfrm>
            <a:off x="8001000" y="4914900"/>
            <a:ext cx="3429000" cy="4267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26880"/>
                </a:solidFill>
                <a:latin typeface="Arial"/>
              </a:rPr>
              <a:t>LEFT JOIN қабылдауы жоқ дәрігерді де қалдырады.</a:t>
            </a:r>
            <a:endParaRPr sz="14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53" name="TextBox 25"/>
          <p:cNvSpPr txBox="1"/>
          <p:nvPr/>
        </p:nvSpPr>
        <p:spPr>
          <a:xfrm>
            <a:off x="660400" y="5892800"/>
            <a:ext cx="107950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0">
                <a:solidFill>
                  <a:srgbClr val="526880"/>
                </a:solidFill>
                <a:latin typeface="Arial"/>
              </a:rPr>
              <a:t>Көрсетілген сандар — түсіндіру үшін алынған оқу мысалы.</a:t>
            </a:r>
            <a:endParaRPr sz="1300" b="0">
              <a:solidFill>
                <a:srgbClr val="52688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6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57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087C7D"/>
                </a:solidFill>
                <a:latin typeface="Arial"/>
              </a:rPr>
              <a:t>ТЕКСЕРУ МЕН ШЕКТЕУЛЕР</a:t>
            </a:r>
            <a:endParaRPr sz="10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58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142A46"/>
                </a:solidFill>
                <a:latin typeface="Arial"/>
              </a:rPr>
              <a:t>Не тексерілді және не әлі қосылмаған?</a:t>
            </a:r>
            <a:endParaRPr sz="2900" b="1">
              <a:solidFill>
                <a:srgbClr val="142A46"/>
              </a:solidFill>
              <a:latin typeface="Arial"/>
            </a:endParaRPr>
          </a:p>
        </p:txBody>
      </p:sp>
      <p:sp>
        <p:nvSpPr>
          <p:cNvPr id="559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D9E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60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26880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61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26880"/>
                </a:solidFill>
                <a:latin typeface="Arial"/>
              </a:rPr>
              <a:t>12</a:t>
            </a:r>
            <a:endParaRPr sz="1000" b="0">
              <a:solidFill>
                <a:srgbClr val="526880"/>
              </a:solidFill>
              <a:latin typeface="Arial"/>
            </a:endParaRPr>
          </a:p>
        </p:txBody>
      </p:sp>
      <p:sp>
        <p:nvSpPr>
          <p:cNvPr id="562" name="TextBox 8"/>
          <p:cNvSpPr txBox="1"/>
          <p:nvPr/>
        </p:nvSpPr>
        <p:spPr>
          <a:xfrm>
            <a:off x="660400" y="1803400"/>
            <a:ext cx="50800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087C7D"/>
                </a:solidFill>
                <a:latin typeface="Arial"/>
              </a:rPr>
              <a:t>ТЕКСЕРІЛГЕН</a:t>
            </a:r>
            <a:endParaRPr sz="12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63" name="TextBox 9"/>
          <p:cNvSpPr txBox="1"/>
          <p:nvPr/>
        </p:nvSpPr>
        <p:spPr>
          <a:xfrm>
            <a:off x="685800" y="2247900"/>
            <a:ext cx="381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087C7D"/>
                </a:solidFill>
                <a:latin typeface="Arial"/>
              </a:rPr>
              <a:t>✓</a:t>
            </a:r>
            <a:endParaRPr sz="18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64" name="TextBox 10"/>
          <p:cNvSpPr txBox="1"/>
          <p:nvPr/>
        </p:nvSpPr>
        <p:spPr>
          <a:xfrm>
            <a:off x="1181100" y="2260600"/>
            <a:ext cx="495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Рөлдер және бөтен дерекке шектеу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65" name="TextBox 11"/>
          <p:cNvSpPr txBox="1"/>
          <p:nvPr/>
        </p:nvSpPr>
        <p:spPr>
          <a:xfrm>
            <a:off x="685800" y="2844800"/>
            <a:ext cx="381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087C7D"/>
                </a:solidFill>
                <a:latin typeface="Arial"/>
              </a:rPr>
              <a:t>✓</a:t>
            </a:r>
            <a:endParaRPr sz="18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66" name="TextBox 12"/>
          <p:cNvSpPr txBox="1"/>
          <p:nvPr/>
        </p:nvSpPr>
        <p:spPr>
          <a:xfrm>
            <a:off x="1181100" y="2857500"/>
            <a:ext cx="495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Бір уақытқа екі жазылу қақтығысы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67" name="TextBox 13"/>
          <p:cNvSpPr txBox="1"/>
          <p:nvPr/>
        </p:nvSpPr>
        <p:spPr>
          <a:xfrm>
            <a:off x="685800" y="3441700"/>
            <a:ext cx="381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087C7D"/>
                </a:solidFill>
                <a:latin typeface="Arial"/>
              </a:rPr>
              <a:t>✓</a:t>
            </a:r>
            <a:endParaRPr sz="18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68" name="TextBox 14"/>
          <p:cNvSpPr txBox="1"/>
          <p:nvPr/>
        </p:nvSpPr>
        <p:spPr>
          <a:xfrm>
            <a:off x="1181100" y="3454400"/>
            <a:ext cx="495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Бас тарту және аяқталған қабылдауды қорғау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69" name="TextBox 15"/>
          <p:cNvSpPr txBox="1"/>
          <p:nvPr/>
        </p:nvSpPr>
        <p:spPr>
          <a:xfrm>
            <a:off x="685800" y="4038600"/>
            <a:ext cx="381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087C7D"/>
                </a:solidFill>
                <a:latin typeface="Arial"/>
              </a:rPr>
              <a:t>✓</a:t>
            </a:r>
            <a:endParaRPr sz="18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70" name="TextBox 16"/>
          <p:cNvSpPr txBox="1"/>
          <p:nvPr/>
        </p:nvSpPr>
        <p:spPr>
          <a:xfrm>
            <a:off x="1181100" y="4051300"/>
            <a:ext cx="495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Медициналық жазба және рецепт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71" name="TextBox 17"/>
          <p:cNvSpPr txBox="1"/>
          <p:nvPr/>
        </p:nvSpPr>
        <p:spPr>
          <a:xfrm>
            <a:off x="685800" y="4635500"/>
            <a:ext cx="3810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087C7D"/>
                </a:solidFill>
                <a:latin typeface="Arial"/>
              </a:rPr>
              <a:t>✓</a:t>
            </a:r>
            <a:endParaRPr sz="1800" b="1">
              <a:solidFill>
                <a:srgbClr val="087C7D"/>
              </a:solidFill>
              <a:latin typeface="Arial"/>
            </a:endParaRPr>
          </a:p>
        </p:txBody>
      </p:sp>
      <p:sp>
        <p:nvSpPr>
          <p:cNvPr id="572" name="TextBox 18"/>
          <p:cNvSpPr txBox="1"/>
          <p:nvPr/>
        </p:nvSpPr>
        <p:spPr>
          <a:xfrm>
            <a:off x="1181100" y="4648200"/>
            <a:ext cx="495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1D324B"/>
                </a:solidFill>
                <a:latin typeface="Arial"/>
              </a:rPr>
              <a:t>Телефонда көрсету және пернетақта</a:t>
            </a:r>
            <a:endParaRPr sz="15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73" name="Rectangle 19"/>
          <p:cNvSpPr/>
          <p:nvPr/>
        </p:nvSpPr>
        <p:spPr>
          <a:xfrm>
            <a:off x="6565900" y="1803400"/>
            <a:ext cx="4940300" cy="32512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74" name="TextBox 20"/>
          <p:cNvSpPr txBox="1"/>
          <p:nvPr/>
        </p:nvSpPr>
        <p:spPr>
          <a:xfrm>
            <a:off x="6858000" y="2082800"/>
            <a:ext cx="4318000" cy="182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200" b="1">
                <a:solidFill>
                  <a:srgbClr val="245BA8"/>
                </a:solidFill>
                <a:latin typeface="Arial"/>
              </a:rPr>
              <a:t>ДАМЫТУ БАҒЫТТАРЫ</a:t>
            </a:r>
            <a:endParaRPr sz="12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575" name="TextBox 21"/>
          <p:cNvSpPr txBox="1"/>
          <p:nvPr/>
        </p:nvSpPr>
        <p:spPr>
          <a:xfrm>
            <a:off x="6858000" y="2578100"/>
            <a:ext cx="4292600" cy="17068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1D324B"/>
                </a:solidFill>
                <a:latin typeface="Arial"/>
              </a:rPr>
              <a:t>01  Дәрігердің жеке кестесі</a:t>
            </a:r>
            <a:endParaRPr sz="1600" b="0">
              <a:solidFill>
                <a:srgbClr val="1D324B"/>
              </a:solidFill>
              <a:latin typeface="Arial"/>
            </a:endParaRPr>
          </a:p>
          <a:p>
            <a:endParaRPr sz="1600" b="0">
              <a:solidFill>
                <a:srgbClr val="1D324B"/>
              </a:solidFill>
              <a:latin typeface="Arial"/>
            </a:endParaRPr>
          </a:p>
          <a:p>
            <a:r>
              <a:rPr sz="1600" b="0">
                <a:solidFill>
                  <a:srgbClr val="1D324B"/>
                </a:solidFill>
                <a:latin typeface="Arial"/>
              </a:rPr>
              <a:t>02  Демалыс пен үзілістер</a:t>
            </a:r>
            <a:endParaRPr sz="1600" b="0">
              <a:solidFill>
                <a:srgbClr val="1D324B"/>
              </a:solidFill>
              <a:latin typeface="Arial"/>
            </a:endParaRPr>
          </a:p>
          <a:p>
            <a:endParaRPr sz="1600" b="0">
              <a:solidFill>
                <a:srgbClr val="1D324B"/>
              </a:solidFill>
              <a:latin typeface="Arial"/>
            </a:endParaRPr>
          </a:p>
          <a:p>
            <a:r>
              <a:rPr sz="1600" b="0">
                <a:solidFill>
                  <a:srgbClr val="1D324B"/>
                </a:solidFill>
                <a:latin typeface="Arial"/>
              </a:rPr>
              <a:t>03  Еске салу хабарламалары</a:t>
            </a:r>
            <a:endParaRPr sz="1600" b="0">
              <a:solidFill>
                <a:srgbClr val="1D324B"/>
              </a:solidFill>
              <a:latin typeface="Arial"/>
            </a:endParaRPr>
          </a:p>
          <a:p>
            <a:endParaRPr sz="1600" b="0">
              <a:solidFill>
                <a:srgbClr val="1D324B"/>
              </a:solidFill>
              <a:latin typeface="Arial"/>
            </a:endParaRPr>
          </a:p>
          <a:p>
            <a:r>
              <a:rPr sz="1600" b="0">
                <a:solidFill>
                  <a:srgbClr val="1D324B"/>
                </a:solidFill>
                <a:latin typeface="Arial"/>
              </a:rPr>
              <a:t>04  Пациенттің медициналық тарихы</a:t>
            </a:r>
            <a:endParaRPr sz="1600" b="0">
              <a:solidFill>
                <a:srgbClr val="1D324B"/>
              </a:solidFill>
              <a:latin typeface="Arial"/>
            </a:endParaRPr>
          </a:p>
        </p:txBody>
      </p:sp>
      <p:sp>
        <p:nvSpPr>
          <p:cNvPr id="576" name="TextBox 22"/>
          <p:cNvSpPr txBox="1"/>
          <p:nvPr/>
        </p:nvSpPr>
        <p:spPr>
          <a:xfrm>
            <a:off x="660400" y="5765800"/>
            <a:ext cx="108585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300" b="0">
                <a:solidFill>
                  <a:srgbClr val="526880"/>
                </a:solidFill>
                <a:latin typeface="Arial"/>
              </a:rPr>
              <a:t>Сақталған браузерлік нәтижелер: 57 + 38 тексеріс, 27.10.2026; бөлек тест базасы.</a:t>
            </a:r>
            <a:endParaRPr sz="1300" b="0">
              <a:solidFill>
                <a:srgbClr val="52688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1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79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0" name="TextBox 3"/>
          <p:cNvSpPr txBox="1"/>
          <p:nvPr/>
        </p:nvSpPr>
        <p:spPr>
          <a:xfrm>
            <a:off x="660400" y="342900"/>
            <a:ext cx="10795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000" b="1">
                <a:solidFill>
                  <a:srgbClr val="F4BC61"/>
                </a:solidFill>
                <a:latin typeface="Arial"/>
              </a:rPr>
              <a:t>ҚОРЫТЫНДЫ</a:t>
            </a:r>
            <a:endParaRPr sz="10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581" name="TextBox 4"/>
          <p:cNvSpPr txBox="1"/>
          <p:nvPr/>
        </p:nvSpPr>
        <p:spPr>
          <a:xfrm>
            <a:off x="660400" y="723900"/>
            <a:ext cx="10858500" cy="4419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Жүйенің нәтижесі</a:t>
            </a:r>
            <a:endParaRPr sz="29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Rectangle 5"/>
          <p:cNvSpPr/>
          <p:nvPr/>
        </p:nvSpPr>
        <p:spPr>
          <a:xfrm>
            <a:off x="660400" y="6337300"/>
            <a:ext cx="10858500" cy="12700"/>
          </a:xfrm>
          <a:prstGeom prst="rect">
            <a:avLst/>
          </a:prstGeom>
          <a:solidFill>
            <a:srgbClr val="36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3" name="TextBox 6"/>
          <p:cNvSpPr txBox="1"/>
          <p:nvPr/>
        </p:nvSpPr>
        <p:spPr>
          <a:xfrm>
            <a:off x="660400" y="6477000"/>
            <a:ext cx="8890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AFC2D8"/>
                </a:solidFill>
                <a:latin typeface="Arial"/>
              </a:rPr>
              <a:t>ЕМХАНА  /  ДЕРЕКТЕР БАЗАСЫ</a:t>
            </a:r>
            <a:endParaRPr sz="9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584" name="TextBox 7"/>
          <p:cNvSpPr txBox="1"/>
          <p:nvPr/>
        </p:nvSpPr>
        <p:spPr>
          <a:xfrm>
            <a:off x="11036300" y="6451600"/>
            <a:ext cx="4572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AFC2D8"/>
                </a:solidFill>
                <a:latin typeface="Arial"/>
              </a:rPr>
              <a:t>13</a:t>
            </a:r>
            <a:endParaRPr sz="10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585" name="TextBox 8"/>
          <p:cNvSpPr txBox="1"/>
          <p:nvPr/>
        </p:nvSpPr>
        <p:spPr>
          <a:xfrm>
            <a:off x="685800" y="1917700"/>
            <a:ext cx="10160000" cy="3810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Біртұтас жұмыс барысы</a:t>
            </a:r>
            <a:endParaRPr sz="2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Rectangle 9"/>
          <p:cNvSpPr/>
          <p:nvPr/>
        </p:nvSpPr>
        <p:spPr>
          <a:xfrm>
            <a:off x="685800" y="2755900"/>
            <a:ext cx="2590800" cy="14478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7" name="TextBox 10"/>
          <p:cNvSpPr txBox="1"/>
          <p:nvPr/>
        </p:nvSpPr>
        <p:spPr>
          <a:xfrm>
            <a:off x="889000" y="2971800"/>
            <a:ext cx="2159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F4BC61"/>
                </a:solidFill>
                <a:latin typeface="Arial"/>
              </a:rPr>
              <a:t>01</a:t>
            </a:r>
            <a:endParaRPr sz="15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588" name="TextBox 11"/>
          <p:cNvSpPr txBox="1"/>
          <p:nvPr/>
        </p:nvSpPr>
        <p:spPr>
          <a:xfrm>
            <a:off x="889000" y="3492500"/>
            <a:ext cx="22098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Пациент</a:t>
            </a:r>
            <a:endParaRPr sz="2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Rectangle 12"/>
          <p:cNvSpPr/>
          <p:nvPr/>
        </p:nvSpPr>
        <p:spPr>
          <a:xfrm>
            <a:off x="3429000" y="2755900"/>
            <a:ext cx="2590800" cy="14478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0" name="TextBox 13"/>
          <p:cNvSpPr txBox="1"/>
          <p:nvPr/>
        </p:nvSpPr>
        <p:spPr>
          <a:xfrm>
            <a:off x="3632200" y="2971800"/>
            <a:ext cx="2159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F4BC61"/>
                </a:solidFill>
                <a:latin typeface="Arial"/>
              </a:rPr>
              <a:t>02</a:t>
            </a:r>
            <a:endParaRPr sz="15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591" name="TextBox 14"/>
          <p:cNvSpPr txBox="1"/>
          <p:nvPr/>
        </p:nvSpPr>
        <p:spPr>
          <a:xfrm>
            <a:off x="3632200" y="3492500"/>
            <a:ext cx="22098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Тіркеуші</a:t>
            </a:r>
            <a:endParaRPr sz="2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Rectangle 15"/>
          <p:cNvSpPr/>
          <p:nvPr/>
        </p:nvSpPr>
        <p:spPr>
          <a:xfrm>
            <a:off x="6172200" y="2755900"/>
            <a:ext cx="2590800" cy="14478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3" name="TextBox 16"/>
          <p:cNvSpPr txBox="1"/>
          <p:nvPr/>
        </p:nvSpPr>
        <p:spPr>
          <a:xfrm>
            <a:off x="6375400" y="2971800"/>
            <a:ext cx="2159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F4BC61"/>
                </a:solidFill>
                <a:latin typeface="Arial"/>
              </a:rPr>
              <a:t>03</a:t>
            </a:r>
            <a:endParaRPr sz="15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594" name="TextBox 17"/>
          <p:cNvSpPr txBox="1"/>
          <p:nvPr/>
        </p:nvSpPr>
        <p:spPr>
          <a:xfrm>
            <a:off x="6375400" y="3492500"/>
            <a:ext cx="22098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Дәрігер</a:t>
            </a:r>
            <a:endParaRPr sz="2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Rectangle 18"/>
          <p:cNvSpPr/>
          <p:nvPr/>
        </p:nvSpPr>
        <p:spPr>
          <a:xfrm>
            <a:off x="8915400" y="2755900"/>
            <a:ext cx="2590800" cy="1447800"/>
          </a:xfrm>
          <a:prstGeom prst="rect">
            <a:avLst/>
          </a:prstGeom>
          <a:solidFill>
            <a:srgbClr val="19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6" name="TextBox 19"/>
          <p:cNvSpPr txBox="1"/>
          <p:nvPr/>
        </p:nvSpPr>
        <p:spPr>
          <a:xfrm>
            <a:off x="9118600" y="2971800"/>
            <a:ext cx="2159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F4BC61"/>
                </a:solidFill>
                <a:latin typeface="Arial"/>
              </a:rPr>
              <a:t>04</a:t>
            </a:r>
            <a:endParaRPr sz="1500" b="1">
              <a:solidFill>
                <a:srgbClr val="F4BC61"/>
              </a:solidFill>
              <a:latin typeface="Arial"/>
            </a:endParaRPr>
          </a:p>
        </p:txBody>
      </p:sp>
      <p:sp>
        <p:nvSpPr>
          <p:cNvPr id="597" name="TextBox 20"/>
          <p:cNvSpPr txBox="1"/>
          <p:nvPr/>
        </p:nvSpPr>
        <p:spPr>
          <a:xfrm>
            <a:off x="9118600" y="3492500"/>
            <a:ext cx="22098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Әкімші</a:t>
            </a:r>
            <a:endParaRPr sz="2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Box 21"/>
          <p:cNvSpPr txBox="1"/>
          <p:nvPr/>
        </p:nvSpPr>
        <p:spPr>
          <a:xfrm>
            <a:off x="685800" y="4419600"/>
            <a:ext cx="241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AFC2D8"/>
                </a:solidFill>
                <a:latin typeface="Arial"/>
              </a:rPr>
              <a:t>Жазылу</a:t>
            </a:r>
            <a:endParaRPr sz="15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599" name="TextBox 22"/>
          <p:cNvSpPr txBox="1"/>
          <p:nvPr/>
        </p:nvSpPr>
        <p:spPr>
          <a:xfrm>
            <a:off x="3429000" y="4419600"/>
            <a:ext cx="241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AFC2D8"/>
                </a:solidFill>
                <a:latin typeface="Arial"/>
              </a:rPr>
              <a:t>Жоспарлау</a:t>
            </a:r>
            <a:endParaRPr sz="15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600" name="TextBox 23"/>
          <p:cNvSpPr txBox="1"/>
          <p:nvPr/>
        </p:nvSpPr>
        <p:spPr>
          <a:xfrm>
            <a:off x="6172200" y="4419600"/>
            <a:ext cx="24765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AFC2D8"/>
                </a:solidFill>
                <a:latin typeface="Arial"/>
              </a:rPr>
              <a:t>Медициналық нәтиже</a:t>
            </a:r>
            <a:endParaRPr sz="15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601" name="TextBox 24"/>
          <p:cNvSpPr txBox="1"/>
          <p:nvPr/>
        </p:nvSpPr>
        <p:spPr>
          <a:xfrm>
            <a:off x="8915400" y="4419600"/>
            <a:ext cx="241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AFC2D8"/>
                </a:solidFill>
                <a:latin typeface="Arial"/>
              </a:rPr>
              <a:t>Есеп</a:t>
            </a:r>
            <a:endParaRPr sz="1500" b="0">
              <a:solidFill>
                <a:srgbClr val="AFC2D8"/>
              </a:solidFill>
              <a:latin typeface="Arial"/>
            </a:endParaRPr>
          </a:p>
        </p:txBody>
      </p:sp>
      <p:sp>
        <p:nvSpPr>
          <p:cNvPr id="602" name="TextBox 25"/>
          <p:cNvSpPr txBox="1"/>
          <p:nvPr/>
        </p:nvSpPr>
        <p:spPr>
          <a:xfrm>
            <a:off x="685800" y="5321300"/>
            <a:ext cx="107950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Деректер байланысы  ·  рөлдік қолжетімділік  ·  бос уақытты қорғау</a:t>
            </a:r>
            <a:endParaRPr sz="1600" b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Box 26"/>
          <p:cNvSpPr txBox="1"/>
          <p:nvPr/>
        </p:nvSpPr>
        <p:spPr>
          <a:xfrm>
            <a:off x="685800" y="5816600"/>
            <a:ext cx="107950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F4BC61"/>
                </a:solidFill>
                <a:latin typeface="Arial"/>
              </a:rPr>
              <a:t>Назарларыңызға рақмет!</a:t>
            </a:r>
            <a:endParaRPr sz="1900" b="1">
              <a:solidFill>
                <a:srgbClr val="F4BC61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