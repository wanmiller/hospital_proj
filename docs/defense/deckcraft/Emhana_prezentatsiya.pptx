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1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2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ДЕРЕКТЕР БАЗАСЫ ЖОБАСЫ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263" name="TextBox 4"/>
          <p:cNvSpPr txBox="1"/>
          <p:nvPr/>
        </p:nvSpPr>
        <p:spPr>
          <a:xfrm>
            <a:off x="685800" y="762000"/>
            <a:ext cx="10795000" cy="914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Емханадағы қабылдауға</a:t>
            </a:r>
            <a:endParaRPr sz="3000" b="1">
              <a:solidFill>
                <a:srgbClr val="173052"/>
              </a:solidFill>
              <a:latin typeface="Arial"/>
            </a:endParaRPr>
          </a:p>
          <a:p>
            <a:r>
              <a:rPr sz="3000" b="1">
                <a:solidFill>
                  <a:srgbClr val="173052"/>
                </a:solidFill>
                <a:latin typeface="Arial"/>
              </a:rPr>
              <a:t>жазылу жүйесі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264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5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66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01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67" name="Rectangle 8"/>
          <p:cNvSpPr/>
          <p:nvPr/>
        </p:nvSpPr>
        <p:spPr>
          <a:xfrm>
            <a:off x="685800" y="2311400"/>
            <a:ext cx="10795000" cy="2921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8" name="TextBox 9"/>
          <p:cNvSpPr txBox="1"/>
          <p:nvPr/>
        </p:nvSpPr>
        <p:spPr>
          <a:xfrm>
            <a:off x="1003300" y="2705100"/>
            <a:ext cx="10033000" cy="4114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700" b="1">
                <a:solidFill>
                  <a:srgbClr val="245BA8"/>
                </a:solidFill>
                <a:latin typeface="Arial"/>
              </a:rPr>
              <a:t>Пациенттен қабылдау нәтижесіне дейін</a:t>
            </a:r>
            <a:endParaRPr sz="2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269" name="TextBox 10"/>
          <p:cNvSpPr txBox="1"/>
          <p:nvPr/>
        </p:nvSpPr>
        <p:spPr>
          <a:xfrm>
            <a:off x="1003300" y="3530600"/>
            <a:ext cx="10033000" cy="320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100" b="0">
                <a:solidFill>
                  <a:srgbClr val="263C55"/>
                </a:solidFill>
                <a:latin typeface="Arial"/>
              </a:rPr>
              <a:t>Тіркелу  →  жазылу  →  қабылдау  →  есеп</a:t>
            </a:r>
            <a:endParaRPr sz="2100" b="0">
              <a:solidFill>
                <a:srgbClr val="263C55"/>
              </a:solidFill>
              <a:latin typeface="Arial"/>
            </a:endParaRPr>
          </a:p>
        </p:txBody>
      </p:sp>
      <p:sp>
        <p:nvSpPr>
          <p:cNvPr id="270" name="TextBox 11"/>
          <p:cNvSpPr txBox="1"/>
          <p:nvPr/>
        </p:nvSpPr>
        <p:spPr>
          <a:xfrm>
            <a:off x="1003300" y="4381500"/>
            <a:ext cx="100330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PHP  ·  MySQL / MariaDB  ·  Tabler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4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МӘСЕЛЕ ЖӘНЕ ШЕШІМ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275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Жобаның мақсаты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276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7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78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02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79" name="Rectangle 8"/>
          <p:cNvSpPr/>
          <p:nvPr/>
        </p:nvSpPr>
        <p:spPr>
          <a:xfrm>
            <a:off x="685800" y="1993900"/>
            <a:ext cx="3302000" cy="289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0" name="TextBox 9"/>
          <p:cNvSpPr txBox="1"/>
          <p:nvPr/>
        </p:nvSpPr>
        <p:spPr>
          <a:xfrm>
            <a:off x="927100" y="2222500"/>
            <a:ext cx="28194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Қиындық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281" name="TextBox 10"/>
          <p:cNvSpPr txBox="1"/>
          <p:nvPr/>
        </p:nvSpPr>
        <p:spPr>
          <a:xfrm>
            <a:off x="927100" y="2679700"/>
            <a:ext cx="2819400" cy="1219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Қабылдау уақытын, пациенттерді және дәрігерлерді бөлек жүргізгенде шатасу туындайды.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4191000" y="1993900"/>
            <a:ext cx="3302000" cy="289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3" name="TextBox 12"/>
          <p:cNvSpPr txBox="1"/>
          <p:nvPr/>
        </p:nvSpPr>
        <p:spPr>
          <a:xfrm>
            <a:off x="4432300" y="2222500"/>
            <a:ext cx="28194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Мақсат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284" name="TextBox 13"/>
          <p:cNvSpPr txBox="1"/>
          <p:nvPr/>
        </p:nvSpPr>
        <p:spPr>
          <a:xfrm>
            <a:off x="4432300" y="2679700"/>
            <a:ext cx="2819400" cy="975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Жазылу мен қабылдауды бір дерекқорда басқару және қызметкерлердің жұмысын жеңілдету.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85" name="Rectangle 14"/>
          <p:cNvSpPr/>
          <p:nvPr/>
        </p:nvSpPr>
        <p:spPr>
          <a:xfrm>
            <a:off x="7696200" y="1993900"/>
            <a:ext cx="3784600" cy="289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6" name="TextBox 15"/>
          <p:cNvSpPr txBox="1"/>
          <p:nvPr/>
        </p:nvSpPr>
        <p:spPr>
          <a:xfrm>
            <a:off x="7937500" y="2222500"/>
            <a:ext cx="33020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Нәтиже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287" name="TextBox 16"/>
          <p:cNvSpPr txBox="1"/>
          <p:nvPr/>
        </p:nvSpPr>
        <p:spPr>
          <a:xfrm>
            <a:off x="7937500" y="2679700"/>
            <a:ext cx="3302000" cy="7315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Пациент өзі жазылады, дәрігер нәтижені енгізеді, әкімші есепті көреді.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88" name="TextBox 17"/>
          <p:cNvSpPr txBox="1"/>
          <p:nvPr/>
        </p:nvSpPr>
        <p:spPr>
          <a:xfrm>
            <a:off x="685800" y="5346700"/>
            <a:ext cx="106680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245BA8"/>
                </a:solidFill>
                <a:latin typeface="Arial"/>
              </a:rPr>
              <a:t>Негізгі қағида: әр пайдаланушы өз рөліне сай әрекет етеді.</a:t>
            </a:r>
            <a:endParaRPr sz="1900" b="1">
              <a:solidFill>
                <a:srgbClr val="245BA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1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2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ПАЙДАЛАНУШЫЛАР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293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Жүйедегі төрт рөл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294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5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96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03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297" name="Rectangle 8"/>
          <p:cNvSpPr/>
          <p:nvPr/>
        </p:nvSpPr>
        <p:spPr>
          <a:xfrm>
            <a:off x="685800" y="1841500"/>
            <a:ext cx="5295900" cy="184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8" name="TextBox 9"/>
          <p:cNvSpPr txBox="1"/>
          <p:nvPr/>
        </p:nvSpPr>
        <p:spPr>
          <a:xfrm>
            <a:off x="927100" y="20701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Пациент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299" name="TextBox 10"/>
          <p:cNvSpPr txBox="1"/>
          <p:nvPr/>
        </p:nvSpPr>
        <p:spPr>
          <a:xfrm>
            <a:off x="927100" y="25273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Тіркелу, бос уақытты таңдау және өз қабылдауларын көру.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00" name="Rectangle 11"/>
          <p:cNvSpPr/>
          <p:nvPr/>
        </p:nvSpPr>
        <p:spPr>
          <a:xfrm>
            <a:off x="6184900" y="1841500"/>
            <a:ext cx="5295900" cy="184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1" name="TextBox 12"/>
          <p:cNvSpPr txBox="1"/>
          <p:nvPr/>
        </p:nvSpPr>
        <p:spPr>
          <a:xfrm>
            <a:off x="6426200" y="20701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Тіркеуші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02" name="TextBox 13"/>
          <p:cNvSpPr txBox="1"/>
          <p:nvPr/>
        </p:nvSpPr>
        <p:spPr>
          <a:xfrm>
            <a:off x="6426200" y="25273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Пациент карточкалары мен қабылдауларды жүргізу.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03" name="Rectangle 14"/>
          <p:cNvSpPr/>
          <p:nvPr/>
        </p:nvSpPr>
        <p:spPr>
          <a:xfrm>
            <a:off x="685800" y="3886200"/>
            <a:ext cx="5295900" cy="184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4" name="TextBox 15"/>
          <p:cNvSpPr txBox="1"/>
          <p:nvPr/>
        </p:nvSpPr>
        <p:spPr>
          <a:xfrm>
            <a:off x="927100" y="41148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Дәрігер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05" name="TextBox 16"/>
          <p:cNvSpPr txBox="1"/>
          <p:nvPr/>
        </p:nvSpPr>
        <p:spPr>
          <a:xfrm>
            <a:off x="927100" y="45720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Өз қабылдаулары, медициналық жазба және рецепт.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06" name="Rectangle 17"/>
          <p:cNvSpPr/>
          <p:nvPr/>
        </p:nvSpPr>
        <p:spPr>
          <a:xfrm>
            <a:off x="6184900" y="3886200"/>
            <a:ext cx="5295900" cy="184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7" name="TextBox 18"/>
          <p:cNvSpPr txBox="1"/>
          <p:nvPr/>
        </p:nvSpPr>
        <p:spPr>
          <a:xfrm>
            <a:off x="6426200" y="41148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Әкімші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08" name="TextBox 19"/>
          <p:cNvSpPr txBox="1"/>
          <p:nvPr/>
        </p:nvSpPr>
        <p:spPr>
          <a:xfrm>
            <a:off x="6426200" y="45720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Пайдаланушылар, дәрігерлер, бөлімшелер және есептер.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1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2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БАҒДАРЛАМАЛЫҚ ҚҰРЫЛЫМ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13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Жүйе қалай жұмыс істейді?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14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5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16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04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17" name="Rectangle 8"/>
          <p:cNvSpPr/>
          <p:nvPr/>
        </p:nvSpPr>
        <p:spPr>
          <a:xfrm>
            <a:off x="685800" y="2184400"/>
            <a:ext cx="32639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18" name="TextBox 9"/>
          <p:cNvSpPr txBox="1"/>
          <p:nvPr/>
        </p:nvSpPr>
        <p:spPr>
          <a:xfrm>
            <a:off x="889000" y="2501900"/>
            <a:ext cx="28575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2200" b="1">
                <a:solidFill>
                  <a:srgbClr val="173052"/>
                </a:solidFill>
                <a:latin typeface="Arial"/>
              </a:rPr>
              <a:t>Браузер</a:t>
            </a:r>
            <a:endParaRPr sz="22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19" name="TextBox 10"/>
          <p:cNvSpPr txBox="1"/>
          <p:nvPr/>
        </p:nvSpPr>
        <p:spPr>
          <a:xfrm>
            <a:off x="889000" y="3238500"/>
            <a:ext cx="2857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0">
                <a:solidFill>
                  <a:srgbClr val="5D7188"/>
                </a:solidFill>
                <a:latin typeface="Arial"/>
              </a:rPr>
              <a:t>HTML · CSS · JavaScript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20" name="Rectangle 11"/>
          <p:cNvSpPr/>
          <p:nvPr/>
        </p:nvSpPr>
        <p:spPr>
          <a:xfrm>
            <a:off x="4457700" y="2184400"/>
            <a:ext cx="32639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1" name="TextBox 12"/>
          <p:cNvSpPr txBox="1"/>
          <p:nvPr/>
        </p:nvSpPr>
        <p:spPr>
          <a:xfrm>
            <a:off x="4660900" y="2501900"/>
            <a:ext cx="28575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2200" b="1">
                <a:solidFill>
                  <a:srgbClr val="173052"/>
                </a:solidFill>
                <a:latin typeface="Arial"/>
              </a:rPr>
              <a:t>PHP сервері</a:t>
            </a:r>
            <a:endParaRPr sz="22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22" name="TextBox 13"/>
          <p:cNvSpPr txBox="1"/>
          <p:nvPr/>
        </p:nvSpPr>
        <p:spPr>
          <a:xfrm>
            <a:off x="4660900" y="3238500"/>
            <a:ext cx="2857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0">
                <a:solidFill>
                  <a:srgbClr val="5D7188"/>
                </a:solidFill>
                <a:latin typeface="Arial"/>
              </a:rPr>
              <a:t>Сессия және тексеру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23" name="Rectangle 14"/>
          <p:cNvSpPr/>
          <p:nvPr/>
        </p:nvSpPr>
        <p:spPr>
          <a:xfrm>
            <a:off x="8229600" y="2184400"/>
            <a:ext cx="32639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24" name="TextBox 15"/>
          <p:cNvSpPr txBox="1"/>
          <p:nvPr/>
        </p:nvSpPr>
        <p:spPr>
          <a:xfrm>
            <a:off x="8432800" y="2501900"/>
            <a:ext cx="2857500" cy="3352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2200" b="1">
                <a:solidFill>
                  <a:srgbClr val="173052"/>
                </a:solidFill>
                <a:latin typeface="Arial"/>
              </a:rPr>
              <a:t>Дерекқор</a:t>
            </a:r>
            <a:endParaRPr sz="22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25" name="TextBox 16"/>
          <p:cNvSpPr txBox="1"/>
          <p:nvPr/>
        </p:nvSpPr>
        <p:spPr>
          <a:xfrm>
            <a:off x="8432800" y="3238500"/>
            <a:ext cx="28575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0">
                <a:solidFill>
                  <a:srgbClr val="5D7188"/>
                </a:solidFill>
                <a:latin typeface="Arial"/>
              </a:rPr>
              <a:t>MySQL / MariaDB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26" name="TextBox 17"/>
          <p:cNvSpPr txBox="1"/>
          <p:nvPr/>
        </p:nvSpPr>
        <p:spPr>
          <a:xfrm>
            <a:off x="4025900" y="2857500"/>
            <a:ext cx="4064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3000" b="1">
                <a:solidFill>
                  <a:srgbClr val="245BA8"/>
                </a:solidFill>
                <a:latin typeface="Arial"/>
              </a:rPr>
              <a:t>→</a:t>
            </a:r>
            <a:endParaRPr sz="30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27" name="TextBox 18"/>
          <p:cNvSpPr txBox="1"/>
          <p:nvPr/>
        </p:nvSpPr>
        <p:spPr>
          <a:xfrm>
            <a:off x="7797800" y="2857500"/>
            <a:ext cx="4064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3000" b="1">
                <a:solidFill>
                  <a:srgbClr val="245BA8"/>
                </a:solidFill>
                <a:latin typeface="Arial"/>
              </a:rPr>
              <a:t>→</a:t>
            </a:r>
            <a:endParaRPr sz="30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28" name="TextBox 19"/>
          <p:cNvSpPr txBox="1"/>
          <p:nvPr/>
        </p:nvSpPr>
        <p:spPr>
          <a:xfrm>
            <a:off x="774700" y="4572000"/>
            <a:ext cx="2413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1">
                <a:solidFill>
                  <a:srgbClr val="245BA8"/>
                </a:solidFill>
                <a:latin typeface="Arial"/>
              </a:rPr>
              <a:t>Сұрау</a:t>
            </a:r>
            <a:endParaRPr sz="15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29" name="TextBox 20"/>
          <p:cNvSpPr txBox="1"/>
          <p:nvPr/>
        </p:nvSpPr>
        <p:spPr>
          <a:xfrm>
            <a:off x="774700" y="4965700"/>
            <a:ext cx="103886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0">
                <a:solidFill>
                  <a:srgbClr val="263C55"/>
                </a:solidFill>
                <a:latin typeface="Arial"/>
              </a:rPr>
              <a:t>Браузер → сервер → дерекқор → пайдаланушыға жауап</a:t>
            </a:r>
            <a:endParaRPr sz="1900" b="0">
              <a:solidFill>
                <a:srgbClr val="263C55"/>
              </a:solidFill>
              <a:latin typeface="Arial"/>
            </a:endParaRPr>
          </a:p>
        </p:txBody>
      </p:sp>
      <p:sp>
        <p:nvSpPr>
          <p:cNvPr id="330" name="TextBox 21"/>
          <p:cNvSpPr txBox="1"/>
          <p:nvPr/>
        </p:nvSpPr>
        <p:spPr>
          <a:xfrm>
            <a:off x="774700" y="5588000"/>
            <a:ext cx="10414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Tabler интерфейсінің файлдары жобада жергілікті сақталған.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4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ДЕРЕКТЕР МОДЕЛІ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35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Дерекқордың негізгі кестелері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36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37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38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05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39" name="Rectangle 8"/>
          <p:cNvSpPr/>
          <p:nvPr/>
        </p:nvSpPr>
        <p:spPr>
          <a:xfrm>
            <a:off x="685800" y="17653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0" name="TextBox 9"/>
          <p:cNvSpPr txBox="1"/>
          <p:nvPr/>
        </p:nvSpPr>
        <p:spPr>
          <a:xfrm>
            <a:off x="889000" y="19431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users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41" name="TextBox 10"/>
          <p:cNvSpPr txBox="1"/>
          <p:nvPr/>
        </p:nvSpPr>
        <p:spPr>
          <a:xfrm>
            <a:off x="889000" y="24003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Аккаунт және рөл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42" name="Rectangle 11"/>
          <p:cNvSpPr/>
          <p:nvPr/>
        </p:nvSpPr>
        <p:spPr>
          <a:xfrm>
            <a:off x="4356100" y="17653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3" name="TextBox 12"/>
          <p:cNvSpPr txBox="1"/>
          <p:nvPr/>
        </p:nvSpPr>
        <p:spPr>
          <a:xfrm>
            <a:off x="4559300" y="19431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patients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44" name="TextBox 13"/>
          <p:cNvSpPr txBox="1"/>
          <p:nvPr/>
        </p:nvSpPr>
        <p:spPr>
          <a:xfrm>
            <a:off x="4559300" y="24003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Пациент карточкасы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45" name="Rectangle 14"/>
          <p:cNvSpPr/>
          <p:nvPr/>
        </p:nvSpPr>
        <p:spPr>
          <a:xfrm>
            <a:off x="8026400" y="17653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6" name="TextBox 15"/>
          <p:cNvSpPr txBox="1"/>
          <p:nvPr/>
        </p:nvSpPr>
        <p:spPr>
          <a:xfrm>
            <a:off x="8229600" y="19431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patient_accounts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47" name="TextBox 16"/>
          <p:cNvSpPr txBox="1"/>
          <p:nvPr/>
        </p:nvSpPr>
        <p:spPr>
          <a:xfrm>
            <a:off x="8229600" y="24003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Аккаунт байланысы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48" name="Rectangle 17"/>
          <p:cNvSpPr/>
          <p:nvPr/>
        </p:nvSpPr>
        <p:spPr>
          <a:xfrm>
            <a:off x="685800" y="31750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9" name="TextBox 18"/>
          <p:cNvSpPr txBox="1"/>
          <p:nvPr/>
        </p:nvSpPr>
        <p:spPr>
          <a:xfrm>
            <a:off x="889000" y="33528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departments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50" name="TextBox 19"/>
          <p:cNvSpPr txBox="1"/>
          <p:nvPr/>
        </p:nvSpPr>
        <p:spPr>
          <a:xfrm>
            <a:off x="889000" y="38100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Бөлімшелер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51" name="Rectangle 20"/>
          <p:cNvSpPr/>
          <p:nvPr/>
        </p:nvSpPr>
        <p:spPr>
          <a:xfrm>
            <a:off x="4356100" y="31750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2" name="TextBox 21"/>
          <p:cNvSpPr txBox="1"/>
          <p:nvPr/>
        </p:nvSpPr>
        <p:spPr>
          <a:xfrm>
            <a:off x="4559300" y="33528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doctors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53" name="TextBox 22"/>
          <p:cNvSpPr txBox="1"/>
          <p:nvPr/>
        </p:nvSpPr>
        <p:spPr>
          <a:xfrm>
            <a:off x="4559300" y="38100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Дәрігер профилі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54" name="Rectangle 23"/>
          <p:cNvSpPr/>
          <p:nvPr/>
        </p:nvSpPr>
        <p:spPr>
          <a:xfrm>
            <a:off x="8026400" y="31750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5" name="TextBox 24"/>
          <p:cNvSpPr txBox="1"/>
          <p:nvPr/>
        </p:nvSpPr>
        <p:spPr>
          <a:xfrm>
            <a:off x="8229600" y="33528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specializations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56" name="TextBox 25"/>
          <p:cNvSpPr txBox="1"/>
          <p:nvPr/>
        </p:nvSpPr>
        <p:spPr>
          <a:xfrm>
            <a:off x="8229600" y="38100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Мамандықтар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57" name="Rectangle 26"/>
          <p:cNvSpPr/>
          <p:nvPr/>
        </p:nvSpPr>
        <p:spPr>
          <a:xfrm>
            <a:off x="685800" y="45847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8" name="TextBox 27"/>
          <p:cNvSpPr txBox="1"/>
          <p:nvPr/>
        </p:nvSpPr>
        <p:spPr>
          <a:xfrm>
            <a:off x="889000" y="47625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appointments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59" name="TextBox 28"/>
          <p:cNvSpPr txBox="1"/>
          <p:nvPr/>
        </p:nvSpPr>
        <p:spPr>
          <a:xfrm>
            <a:off x="889000" y="52197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Қабылдаулар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60" name="Rectangle 29"/>
          <p:cNvSpPr/>
          <p:nvPr/>
        </p:nvSpPr>
        <p:spPr>
          <a:xfrm>
            <a:off x="4356100" y="45847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1" name="TextBox 30"/>
          <p:cNvSpPr txBox="1"/>
          <p:nvPr/>
        </p:nvSpPr>
        <p:spPr>
          <a:xfrm>
            <a:off x="4559300" y="47625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medical_records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62" name="TextBox 31"/>
          <p:cNvSpPr txBox="1"/>
          <p:nvPr/>
        </p:nvSpPr>
        <p:spPr>
          <a:xfrm>
            <a:off x="4559300" y="52197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Медициналық жазба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63" name="Rectangle 32"/>
          <p:cNvSpPr/>
          <p:nvPr/>
        </p:nvSpPr>
        <p:spPr>
          <a:xfrm>
            <a:off x="8026400" y="4584700"/>
            <a:ext cx="3429000" cy="1193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4" name="TextBox 33"/>
          <p:cNvSpPr txBox="1"/>
          <p:nvPr/>
        </p:nvSpPr>
        <p:spPr>
          <a:xfrm>
            <a:off x="8229600" y="4762500"/>
            <a:ext cx="30226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245BA8"/>
                </a:solidFill>
                <a:latin typeface="Arial"/>
              </a:rPr>
              <a:t>prescriptions</a:t>
            </a:r>
            <a:endParaRPr sz="17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65" name="TextBox 34"/>
          <p:cNvSpPr txBox="1"/>
          <p:nvPr/>
        </p:nvSpPr>
        <p:spPr>
          <a:xfrm>
            <a:off x="8229600" y="5219700"/>
            <a:ext cx="30226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Рецепттер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8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9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ДЕРЕКТЕР МОДЕЛІ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70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Кестелер арасындағы байланыс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71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2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73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06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74" name="Rectangle 8"/>
          <p:cNvSpPr/>
          <p:nvPr/>
        </p:nvSpPr>
        <p:spPr>
          <a:xfrm>
            <a:off x="736600" y="1955800"/>
            <a:ext cx="2857500" cy="1130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5" name="TextBox 9"/>
          <p:cNvSpPr txBox="1"/>
          <p:nvPr/>
        </p:nvSpPr>
        <p:spPr>
          <a:xfrm>
            <a:off x="889000" y="2146300"/>
            <a:ext cx="25527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1B437C"/>
                </a:solidFill>
                <a:latin typeface="Arial"/>
              </a:rPr>
              <a:t>patients</a:t>
            </a:r>
            <a:endParaRPr sz="1600" b="1">
              <a:solidFill>
                <a:srgbClr val="1B437C"/>
              </a:solidFill>
              <a:latin typeface="Arial"/>
            </a:endParaRPr>
          </a:p>
        </p:txBody>
      </p:sp>
      <p:sp>
        <p:nvSpPr>
          <p:cNvPr id="376" name="TextBox 10"/>
          <p:cNvSpPr txBox="1"/>
          <p:nvPr/>
        </p:nvSpPr>
        <p:spPr>
          <a:xfrm>
            <a:off x="889000" y="2603500"/>
            <a:ext cx="2552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D7188"/>
                </a:solidFill>
                <a:latin typeface="Arial"/>
              </a:rPr>
              <a:t>Пациент</a:t>
            </a:r>
            <a:endParaRPr sz="13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77" name="Rectangle 11"/>
          <p:cNvSpPr/>
          <p:nvPr/>
        </p:nvSpPr>
        <p:spPr>
          <a:xfrm>
            <a:off x="4381500" y="1955800"/>
            <a:ext cx="2857500" cy="1130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8" name="TextBox 12"/>
          <p:cNvSpPr txBox="1"/>
          <p:nvPr/>
        </p:nvSpPr>
        <p:spPr>
          <a:xfrm>
            <a:off x="4533900" y="2146300"/>
            <a:ext cx="25527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1B437C"/>
                </a:solidFill>
                <a:latin typeface="Arial"/>
              </a:rPr>
              <a:t>appointments</a:t>
            </a:r>
            <a:endParaRPr sz="1600" b="1">
              <a:solidFill>
                <a:srgbClr val="1B437C"/>
              </a:solidFill>
              <a:latin typeface="Arial"/>
            </a:endParaRPr>
          </a:p>
        </p:txBody>
      </p:sp>
      <p:sp>
        <p:nvSpPr>
          <p:cNvPr id="379" name="TextBox 13"/>
          <p:cNvSpPr txBox="1"/>
          <p:nvPr/>
        </p:nvSpPr>
        <p:spPr>
          <a:xfrm>
            <a:off x="4533900" y="2603500"/>
            <a:ext cx="2552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D7188"/>
                </a:solidFill>
                <a:latin typeface="Arial"/>
              </a:rPr>
              <a:t>Қабылдау</a:t>
            </a:r>
            <a:endParaRPr sz="13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80" name="Rectangle 14"/>
          <p:cNvSpPr/>
          <p:nvPr/>
        </p:nvSpPr>
        <p:spPr>
          <a:xfrm>
            <a:off x="8051800" y="1955800"/>
            <a:ext cx="2857500" cy="1130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1" name="TextBox 15"/>
          <p:cNvSpPr txBox="1"/>
          <p:nvPr/>
        </p:nvSpPr>
        <p:spPr>
          <a:xfrm>
            <a:off x="8204200" y="2146300"/>
            <a:ext cx="25527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1B437C"/>
                </a:solidFill>
                <a:latin typeface="Arial"/>
              </a:rPr>
              <a:t>doctors</a:t>
            </a:r>
            <a:endParaRPr sz="1600" b="1">
              <a:solidFill>
                <a:srgbClr val="1B437C"/>
              </a:solidFill>
              <a:latin typeface="Arial"/>
            </a:endParaRPr>
          </a:p>
        </p:txBody>
      </p:sp>
      <p:sp>
        <p:nvSpPr>
          <p:cNvPr id="382" name="TextBox 16"/>
          <p:cNvSpPr txBox="1"/>
          <p:nvPr/>
        </p:nvSpPr>
        <p:spPr>
          <a:xfrm>
            <a:off x="8204200" y="2603500"/>
            <a:ext cx="2552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D7188"/>
                </a:solidFill>
                <a:latin typeface="Arial"/>
              </a:rPr>
              <a:t>Дәрігер</a:t>
            </a:r>
            <a:endParaRPr sz="13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83" name="Rectangle 17"/>
          <p:cNvSpPr/>
          <p:nvPr/>
        </p:nvSpPr>
        <p:spPr>
          <a:xfrm>
            <a:off x="4381500" y="3784600"/>
            <a:ext cx="2857500" cy="1130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4" name="TextBox 18"/>
          <p:cNvSpPr txBox="1"/>
          <p:nvPr/>
        </p:nvSpPr>
        <p:spPr>
          <a:xfrm>
            <a:off x="4533900" y="3975100"/>
            <a:ext cx="25527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1B437C"/>
                </a:solidFill>
                <a:latin typeface="Arial"/>
              </a:rPr>
              <a:t>medical_records</a:t>
            </a:r>
            <a:endParaRPr sz="1600" b="1">
              <a:solidFill>
                <a:srgbClr val="1B437C"/>
              </a:solidFill>
              <a:latin typeface="Arial"/>
            </a:endParaRPr>
          </a:p>
        </p:txBody>
      </p:sp>
      <p:sp>
        <p:nvSpPr>
          <p:cNvPr id="385" name="TextBox 19"/>
          <p:cNvSpPr txBox="1"/>
          <p:nvPr/>
        </p:nvSpPr>
        <p:spPr>
          <a:xfrm>
            <a:off x="4533900" y="4432300"/>
            <a:ext cx="2552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D7188"/>
                </a:solidFill>
                <a:latin typeface="Arial"/>
              </a:rPr>
              <a:t>Медициналық жазба</a:t>
            </a:r>
            <a:endParaRPr sz="13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86" name="Rectangle 20"/>
          <p:cNvSpPr/>
          <p:nvPr/>
        </p:nvSpPr>
        <p:spPr>
          <a:xfrm>
            <a:off x="8051800" y="3784600"/>
            <a:ext cx="2857500" cy="1130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7" name="TextBox 21"/>
          <p:cNvSpPr txBox="1"/>
          <p:nvPr/>
        </p:nvSpPr>
        <p:spPr>
          <a:xfrm>
            <a:off x="8204200" y="3975100"/>
            <a:ext cx="25527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600" b="1">
                <a:solidFill>
                  <a:srgbClr val="1B437C"/>
                </a:solidFill>
                <a:latin typeface="Arial"/>
              </a:rPr>
              <a:t>prescriptions</a:t>
            </a:r>
            <a:endParaRPr sz="1600" b="1">
              <a:solidFill>
                <a:srgbClr val="1B437C"/>
              </a:solidFill>
              <a:latin typeface="Arial"/>
            </a:endParaRPr>
          </a:p>
        </p:txBody>
      </p:sp>
      <p:sp>
        <p:nvSpPr>
          <p:cNvPr id="388" name="TextBox 22"/>
          <p:cNvSpPr txBox="1"/>
          <p:nvPr/>
        </p:nvSpPr>
        <p:spPr>
          <a:xfrm>
            <a:off x="8204200" y="4432300"/>
            <a:ext cx="2552700" cy="1981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300" b="0">
                <a:solidFill>
                  <a:srgbClr val="5D7188"/>
                </a:solidFill>
                <a:latin typeface="Arial"/>
              </a:rPr>
              <a:t>Рецепттер</a:t>
            </a:r>
            <a:endParaRPr sz="13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389" name="TextBox 23"/>
          <p:cNvSpPr txBox="1"/>
          <p:nvPr/>
        </p:nvSpPr>
        <p:spPr>
          <a:xfrm>
            <a:off x="3594100" y="2298700"/>
            <a:ext cx="762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245BA8"/>
                </a:solidFill>
                <a:latin typeface="Arial"/>
              </a:rPr>
              <a:t>1  →  N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90" name="TextBox 24"/>
          <p:cNvSpPr txBox="1"/>
          <p:nvPr/>
        </p:nvSpPr>
        <p:spPr>
          <a:xfrm>
            <a:off x="7251700" y="2298700"/>
            <a:ext cx="762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245BA8"/>
                </a:solidFill>
                <a:latin typeface="Arial"/>
              </a:rPr>
              <a:t>N  ←  1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91" name="TextBox 25"/>
          <p:cNvSpPr txBox="1"/>
          <p:nvPr/>
        </p:nvSpPr>
        <p:spPr>
          <a:xfrm>
            <a:off x="4864100" y="3263900"/>
            <a:ext cx="1905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245BA8"/>
                </a:solidFill>
                <a:latin typeface="Arial"/>
              </a:rPr>
              <a:t>1  ↓  0..1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92" name="TextBox 26"/>
          <p:cNvSpPr txBox="1"/>
          <p:nvPr/>
        </p:nvSpPr>
        <p:spPr>
          <a:xfrm>
            <a:off x="7251700" y="4152900"/>
            <a:ext cx="762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400" b="1">
                <a:solidFill>
                  <a:srgbClr val="245BA8"/>
                </a:solidFill>
                <a:latin typeface="Arial"/>
              </a:rPr>
              <a:t>1  →  N</a:t>
            </a:r>
            <a:endParaRPr sz="14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93" name="TextBox 27"/>
          <p:cNvSpPr txBox="1"/>
          <p:nvPr/>
        </p:nvSpPr>
        <p:spPr>
          <a:xfrm>
            <a:off x="736600" y="5562600"/>
            <a:ext cx="104140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D7188"/>
                </a:solidFill>
                <a:latin typeface="Arial"/>
              </a:rPr>
              <a:t>Аккаунт пен пациент карточкасын patient_accounts кестесі байланыстырады.</a:t>
            </a:r>
            <a:endParaRPr sz="15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6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97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ДЕРЕКҚОР ШЕКТЕУЛЕРІ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398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Бір уақытқа қос жазылуды болдырмау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399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0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01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07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02" name="Rectangle 8"/>
          <p:cNvSpPr/>
          <p:nvPr/>
        </p:nvSpPr>
        <p:spPr>
          <a:xfrm>
            <a:off x="685800" y="1854200"/>
            <a:ext cx="10795000" cy="1066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3" name="TextBox 9"/>
          <p:cNvSpPr txBox="1"/>
          <p:nvPr/>
        </p:nvSpPr>
        <p:spPr>
          <a:xfrm>
            <a:off x="977900" y="2209800"/>
            <a:ext cx="10160000" cy="3200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100" b="1">
                <a:solidFill>
                  <a:srgbClr val="173052"/>
                </a:solidFill>
                <a:latin typeface="Arial"/>
              </a:rPr>
              <a:t>Дәрігер  +  күн  +  басталу уақыты  +  occupied_slot</a:t>
            </a:r>
            <a:endParaRPr sz="21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04" name="Rectangle 10"/>
          <p:cNvSpPr/>
          <p:nvPr/>
        </p:nvSpPr>
        <p:spPr>
          <a:xfrm>
            <a:off x="685800" y="3251200"/>
            <a:ext cx="3429000" cy="1879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5" name="TextBox 11"/>
          <p:cNvSpPr txBox="1"/>
          <p:nvPr/>
        </p:nvSpPr>
        <p:spPr>
          <a:xfrm>
            <a:off x="914400" y="3479800"/>
            <a:ext cx="29718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73052"/>
                </a:solidFill>
                <a:latin typeface="Arial"/>
              </a:rPr>
              <a:t>Жоспарланған</a:t>
            </a:r>
            <a:endParaRPr sz="17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06" name="TextBox 12"/>
          <p:cNvSpPr txBox="1"/>
          <p:nvPr/>
        </p:nvSpPr>
        <p:spPr>
          <a:xfrm>
            <a:off x="914400" y="3975100"/>
            <a:ext cx="2971800" cy="3962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600" b="1">
                <a:solidFill>
                  <a:srgbClr val="245BA8"/>
                </a:solidFill>
                <a:latin typeface="Arial"/>
              </a:rPr>
              <a:t>1</a:t>
            </a:r>
            <a:endParaRPr sz="26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07" name="TextBox 13"/>
          <p:cNvSpPr txBox="1"/>
          <p:nvPr/>
        </p:nvSpPr>
        <p:spPr>
          <a:xfrm>
            <a:off x="914400" y="4610100"/>
            <a:ext cx="29718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Уақыт бос емес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08" name="Rectangle 14"/>
          <p:cNvSpPr/>
          <p:nvPr/>
        </p:nvSpPr>
        <p:spPr>
          <a:xfrm>
            <a:off x="4318000" y="3251200"/>
            <a:ext cx="3429000" cy="1879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9" name="TextBox 15"/>
          <p:cNvSpPr txBox="1"/>
          <p:nvPr/>
        </p:nvSpPr>
        <p:spPr>
          <a:xfrm>
            <a:off x="4546600" y="3479800"/>
            <a:ext cx="29718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73052"/>
                </a:solidFill>
                <a:latin typeface="Arial"/>
              </a:rPr>
              <a:t>Аяқталған</a:t>
            </a:r>
            <a:endParaRPr sz="17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10" name="TextBox 16"/>
          <p:cNvSpPr txBox="1"/>
          <p:nvPr/>
        </p:nvSpPr>
        <p:spPr>
          <a:xfrm>
            <a:off x="4546600" y="3975100"/>
            <a:ext cx="2971800" cy="3962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600" b="1">
                <a:solidFill>
                  <a:srgbClr val="0D7E7C"/>
                </a:solidFill>
                <a:latin typeface="Arial"/>
              </a:rPr>
              <a:t>1</a:t>
            </a:r>
            <a:endParaRPr sz="2600" b="1">
              <a:solidFill>
                <a:srgbClr val="0D7E7C"/>
              </a:solidFill>
              <a:latin typeface="Arial"/>
            </a:endParaRPr>
          </a:p>
        </p:txBody>
      </p:sp>
      <p:sp>
        <p:nvSpPr>
          <p:cNvPr id="411" name="TextBox 17"/>
          <p:cNvSpPr txBox="1"/>
          <p:nvPr/>
        </p:nvSpPr>
        <p:spPr>
          <a:xfrm>
            <a:off x="4546600" y="4610100"/>
            <a:ext cx="29718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Уақыт сақталады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12" name="Rectangle 18"/>
          <p:cNvSpPr/>
          <p:nvPr/>
        </p:nvSpPr>
        <p:spPr>
          <a:xfrm>
            <a:off x="7950200" y="3251200"/>
            <a:ext cx="3429000" cy="1879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3" name="TextBox 19"/>
          <p:cNvSpPr txBox="1"/>
          <p:nvPr/>
        </p:nvSpPr>
        <p:spPr>
          <a:xfrm>
            <a:off x="8178800" y="3479800"/>
            <a:ext cx="29718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73052"/>
                </a:solidFill>
                <a:latin typeface="Arial"/>
              </a:rPr>
              <a:t>Бас тартылған</a:t>
            </a:r>
            <a:endParaRPr sz="17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14" name="TextBox 20"/>
          <p:cNvSpPr txBox="1"/>
          <p:nvPr/>
        </p:nvSpPr>
        <p:spPr>
          <a:xfrm>
            <a:off x="8178800" y="3975100"/>
            <a:ext cx="2971800" cy="3962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600" b="1">
                <a:solidFill>
                  <a:srgbClr val="5D7188"/>
                </a:solidFill>
                <a:latin typeface="Arial"/>
              </a:rPr>
              <a:t>NULL</a:t>
            </a:r>
            <a:endParaRPr sz="2600" b="1">
              <a:solidFill>
                <a:srgbClr val="5D7188"/>
              </a:solidFill>
              <a:latin typeface="Arial"/>
            </a:endParaRPr>
          </a:p>
        </p:txBody>
      </p:sp>
      <p:sp>
        <p:nvSpPr>
          <p:cNvPr id="415" name="TextBox 21"/>
          <p:cNvSpPr txBox="1"/>
          <p:nvPr/>
        </p:nvSpPr>
        <p:spPr>
          <a:xfrm>
            <a:off x="8178800" y="4610100"/>
            <a:ext cx="29718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Уақыт қайта босайды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16" name="TextBox 22"/>
          <p:cNvSpPr txBox="1"/>
          <p:nvPr/>
        </p:nvSpPr>
        <p:spPr>
          <a:xfrm>
            <a:off x="685800" y="5613400"/>
            <a:ext cx="10795000" cy="2438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1">
                <a:solidFill>
                  <a:srgbClr val="245BA8"/>
                </a:solidFill>
                <a:latin typeface="Arial"/>
              </a:rPr>
              <a:t>UNIQUE индексі бірдей уақытты екі рет алуға жол бермейді.</a:t>
            </a:r>
            <a:endParaRPr sz="1600" b="1">
              <a:solidFill>
                <a:srgbClr val="245BA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9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0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ПАЙДАЛАНУШЫ СЦЕНАРИЙІ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21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Пациенттің өздігінен жазылуы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22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3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24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08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pic>
        <p:nvPicPr>
          <p:cNvPr id="426" name="Picture 8" descr="booking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43600" y="1905000"/>
            <a:ext cx="5410200" cy="3810000"/>
          </a:xfrm>
          <a:prstGeom prst="rect">
            <a:avLst/>
          </a:prstGeom>
        </p:spPr>
      </p:pic>
      <p:sp>
        <p:nvSpPr>
          <p:cNvPr id="427" name="Rectangle 9"/>
          <p:cNvSpPr/>
          <p:nvPr/>
        </p:nvSpPr>
        <p:spPr>
          <a:xfrm>
            <a:off x="685800" y="1879600"/>
            <a:ext cx="571500" cy="317500"/>
          </a:xfrm>
          <a:prstGeom prst="roundRect">
            <a:avLst/>
          </a:prstGeom>
          <a:solidFill>
            <a:srgbClr val="DF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8" name="TextBox 10"/>
          <p:cNvSpPr txBox="1"/>
          <p:nvPr/>
        </p:nvSpPr>
        <p:spPr>
          <a:xfrm>
            <a:off x="787400" y="1943100"/>
            <a:ext cx="3683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000" b="1">
                <a:solidFill>
                  <a:srgbClr val="0D7E7C"/>
                </a:solidFill>
                <a:latin typeface="Arial"/>
              </a:rPr>
              <a:t>01</a:t>
            </a:r>
            <a:endParaRPr sz="1000" b="1">
              <a:solidFill>
                <a:srgbClr val="0D7E7C"/>
              </a:solidFill>
              <a:latin typeface="Arial"/>
            </a:endParaRPr>
          </a:p>
        </p:txBody>
      </p:sp>
      <p:sp>
        <p:nvSpPr>
          <p:cNvPr id="429" name="TextBox 11"/>
          <p:cNvSpPr txBox="1"/>
          <p:nvPr/>
        </p:nvSpPr>
        <p:spPr>
          <a:xfrm>
            <a:off x="1397000" y="1866900"/>
            <a:ext cx="41910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73052"/>
                </a:solidFill>
                <a:latin typeface="Arial"/>
              </a:rPr>
              <a:t>Тіркелу</a:t>
            </a:r>
            <a:endParaRPr sz="17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30" name="TextBox 12"/>
          <p:cNvSpPr txBox="1"/>
          <p:nvPr/>
        </p:nvSpPr>
        <p:spPr>
          <a:xfrm>
            <a:off x="1397000" y="2247900"/>
            <a:ext cx="4191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Жеке аккаунт пен карточка жасалады.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31" name="Rectangle 13"/>
          <p:cNvSpPr/>
          <p:nvPr/>
        </p:nvSpPr>
        <p:spPr>
          <a:xfrm>
            <a:off x="685800" y="2857500"/>
            <a:ext cx="571500" cy="317500"/>
          </a:xfrm>
          <a:prstGeom prst="roundRect">
            <a:avLst/>
          </a:prstGeom>
          <a:solidFill>
            <a:srgbClr val="DF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2" name="TextBox 14"/>
          <p:cNvSpPr txBox="1"/>
          <p:nvPr/>
        </p:nvSpPr>
        <p:spPr>
          <a:xfrm>
            <a:off x="787400" y="2921000"/>
            <a:ext cx="3683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000" b="1">
                <a:solidFill>
                  <a:srgbClr val="0D7E7C"/>
                </a:solidFill>
                <a:latin typeface="Arial"/>
              </a:rPr>
              <a:t>02</a:t>
            </a:r>
            <a:endParaRPr sz="1000" b="1">
              <a:solidFill>
                <a:srgbClr val="0D7E7C"/>
              </a:solidFill>
              <a:latin typeface="Arial"/>
            </a:endParaRPr>
          </a:p>
        </p:txBody>
      </p:sp>
      <p:sp>
        <p:nvSpPr>
          <p:cNvPr id="433" name="TextBox 15"/>
          <p:cNvSpPr txBox="1"/>
          <p:nvPr/>
        </p:nvSpPr>
        <p:spPr>
          <a:xfrm>
            <a:off x="1397000" y="2844800"/>
            <a:ext cx="41910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73052"/>
                </a:solidFill>
                <a:latin typeface="Arial"/>
              </a:rPr>
              <a:t>Таңдау</a:t>
            </a:r>
            <a:endParaRPr sz="17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34" name="TextBox 16"/>
          <p:cNvSpPr txBox="1"/>
          <p:nvPr/>
        </p:nvSpPr>
        <p:spPr>
          <a:xfrm>
            <a:off x="1397000" y="3225800"/>
            <a:ext cx="4191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Дәрігер, күн және бос уақыт таңдалады.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35" name="Rectangle 17"/>
          <p:cNvSpPr/>
          <p:nvPr/>
        </p:nvSpPr>
        <p:spPr>
          <a:xfrm>
            <a:off x="685800" y="3835400"/>
            <a:ext cx="571500" cy="317500"/>
          </a:xfrm>
          <a:prstGeom prst="roundRect">
            <a:avLst/>
          </a:prstGeom>
          <a:solidFill>
            <a:srgbClr val="DF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6" name="TextBox 18"/>
          <p:cNvSpPr txBox="1"/>
          <p:nvPr/>
        </p:nvSpPr>
        <p:spPr>
          <a:xfrm>
            <a:off x="787400" y="3898900"/>
            <a:ext cx="3683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000" b="1">
                <a:solidFill>
                  <a:srgbClr val="0D7E7C"/>
                </a:solidFill>
                <a:latin typeface="Arial"/>
              </a:rPr>
              <a:t>03</a:t>
            </a:r>
            <a:endParaRPr sz="1000" b="1">
              <a:solidFill>
                <a:srgbClr val="0D7E7C"/>
              </a:solidFill>
              <a:latin typeface="Arial"/>
            </a:endParaRPr>
          </a:p>
        </p:txBody>
      </p:sp>
      <p:sp>
        <p:nvSpPr>
          <p:cNvPr id="437" name="TextBox 19"/>
          <p:cNvSpPr txBox="1"/>
          <p:nvPr/>
        </p:nvSpPr>
        <p:spPr>
          <a:xfrm>
            <a:off x="1397000" y="3822700"/>
            <a:ext cx="41910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73052"/>
                </a:solidFill>
                <a:latin typeface="Arial"/>
              </a:rPr>
              <a:t>Растау</a:t>
            </a:r>
            <a:endParaRPr sz="17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38" name="TextBox 20"/>
          <p:cNvSpPr txBox="1"/>
          <p:nvPr/>
        </p:nvSpPr>
        <p:spPr>
          <a:xfrm>
            <a:off x="1397000" y="4203700"/>
            <a:ext cx="4191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Жазба жеке қабылдаулар тізіміне қосылады.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39" name="Rectangle 21"/>
          <p:cNvSpPr/>
          <p:nvPr/>
        </p:nvSpPr>
        <p:spPr>
          <a:xfrm>
            <a:off x="685800" y="4813300"/>
            <a:ext cx="571500" cy="317500"/>
          </a:xfrm>
          <a:prstGeom prst="roundRect">
            <a:avLst/>
          </a:prstGeom>
          <a:solidFill>
            <a:srgbClr val="DF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0" name="TextBox 22"/>
          <p:cNvSpPr txBox="1"/>
          <p:nvPr/>
        </p:nvSpPr>
        <p:spPr>
          <a:xfrm>
            <a:off x="787400" y="4876800"/>
            <a:ext cx="3683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000" b="1">
                <a:solidFill>
                  <a:srgbClr val="0D7E7C"/>
                </a:solidFill>
                <a:latin typeface="Arial"/>
              </a:rPr>
              <a:t>04</a:t>
            </a:r>
            <a:endParaRPr sz="1000" b="1">
              <a:solidFill>
                <a:srgbClr val="0D7E7C"/>
              </a:solidFill>
              <a:latin typeface="Arial"/>
            </a:endParaRPr>
          </a:p>
        </p:txBody>
      </p:sp>
      <p:sp>
        <p:nvSpPr>
          <p:cNvPr id="441" name="TextBox 23"/>
          <p:cNvSpPr txBox="1"/>
          <p:nvPr/>
        </p:nvSpPr>
        <p:spPr>
          <a:xfrm>
            <a:off x="1397000" y="4800600"/>
            <a:ext cx="41910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1">
                <a:solidFill>
                  <a:srgbClr val="173052"/>
                </a:solidFill>
                <a:latin typeface="Arial"/>
              </a:rPr>
              <a:t>Басқару</a:t>
            </a:r>
            <a:endParaRPr sz="17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42" name="TextBox 24"/>
          <p:cNvSpPr txBox="1"/>
          <p:nvPr/>
        </p:nvSpPr>
        <p:spPr>
          <a:xfrm>
            <a:off x="1397000" y="5181600"/>
            <a:ext cx="4191000" cy="2133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400" b="0">
                <a:solidFill>
                  <a:srgbClr val="5D7188"/>
                </a:solidFill>
                <a:latin typeface="Arial"/>
              </a:rPr>
              <a:t>Жоспарланған жазбадан бас тартуға болады.</a:t>
            </a:r>
            <a:endParaRPr sz="14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43" name="TextBox 25"/>
          <p:cNvSpPr txBox="1"/>
          <p:nvPr/>
        </p:nvSpPr>
        <p:spPr>
          <a:xfrm>
            <a:off x="7175500" y="5816600"/>
            <a:ext cx="3810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000" b="0">
                <a:solidFill>
                  <a:srgbClr val="5D7188"/>
                </a:solidFill>
                <a:latin typeface="Arial"/>
              </a:rPr>
              <a:t>Көрсетілім — оқу деректері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6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7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ДӘРІГЕР ЖҰМЫСЫ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48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Қабылдау және медициналық жазба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49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0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51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09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pic>
        <p:nvPicPr>
          <p:cNvPr id="453" name="Picture 8" descr="consultatio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30900" y="1879600"/>
            <a:ext cx="5448300" cy="3835400"/>
          </a:xfrm>
          <a:prstGeom prst="rect">
            <a:avLst/>
          </a:prstGeom>
        </p:spPr>
      </p:pic>
      <p:sp>
        <p:nvSpPr>
          <p:cNvPr id="454" name="TextBox 9"/>
          <p:cNvSpPr txBox="1"/>
          <p:nvPr/>
        </p:nvSpPr>
        <p:spPr>
          <a:xfrm>
            <a:off x="762000" y="1968500"/>
            <a:ext cx="47625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173052"/>
                </a:solidFill>
                <a:latin typeface="Arial"/>
              </a:rPr>
              <a:t>Қабылдау</a:t>
            </a:r>
            <a:endParaRPr sz="18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55" name="TextBox 10"/>
          <p:cNvSpPr txBox="1"/>
          <p:nvPr/>
        </p:nvSpPr>
        <p:spPr>
          <a:xfrm>
            <a:off x="762000" y="2400300"/>
            <a:ext cx="47625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D7188"/>
                </a:solidFill>
                <a:latin typeface="Arial"/>
              </a:rPr>
              <a:t>Дәрігер өзіне тағайындалған пациентті ашады.</a:t>
            </a:r>
            <a:endParaRPr sz="15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56" name="TextBox 11"/>
          <p:cNvSpPr txBox="1"/>
          <p:nvPr/>
        </p:nvSpPr>
        <p:spPr>
          <a:xfrm>
            <a:off x="762000" y="3136900"/>
            <a:ext cx="47625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173052"/>
                </a:solidFill>
                <a:latin typeface="Arial"/>
              </a:rPr>
              <a:t>Медициналық жазба</a:t>
            </a:r>
            <a:endParaRPr sz="18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57" name="TextBox 12"/>
          <p:cNvSpPr txBox="1"/>
          <p:nvPr/>
        </p:nvSpPr>
        <p:spPr>
          <a:xfrm>
            <a:off x="762000" y="3568700"/>
            <a:ext cx="4762500" cy="2286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D7188"/>
                </a:solidFill>
                <a:latin typeface="Arial"/>
              </a:rPr>
              <a:t>Диагноз бен емді енгізіп, қабылдауды аяқтайды.</a:t>
            </a:r>
            <a:endParaRPr sz="15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58" name="TextBox 13"/>
          <p:cNvSpPr txBox="1"/>
          <p:nvPr/>
        </p:nvSpPr>
        <p:spPr>
          <a:xfrm>
            <a:off x="762000" y="4318000"/>
            <a:ext cx="4762500" cy="274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800" b="1">
                <a:solidFill>
                  <a:srgbClr val="173052"/>
                </a:solidFill>
                <a:latin typeface="Arial"/>
              </a:rPr>
              <a:t>Рецепт</a:t>
            </a:r>
            <a:endParaRPr sz="18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59" name="TextBox 14"/>
          <p:cNvSpPr txBox="1"/>
          <p:nvPr/>
        </p:nvSpPr>
        <p:spPr>
          <a:xfrm>
            <a:off x="762000" y="4749800"/>
            <a:ext cx="47625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500" b="0">
                <a:solidFill>
                  <a:srgbClr val="5D7188"/>
                </a:solidFill>
                <a:latin typeface="Arial"/>
              </a:rPr>
              <a:t>Медициналық жазбаға дәрі мен қолдану тәртібі тіркеледі.</a:t>
            </a:r>
            <a:endParaRPr sz="15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60" name="TextBox 15"/>
          <p:cNvSpPr txBox="1"/>
          <p:nvPr/>
        </p:nvSpPr>
        <p:spPr>
          <a:xfrm>
            <a:off x="7200900" y="5816600"/>
            <a:ext cx="3810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ctr"/>
            <a:r>
              <a:rPr sz="1000" b="0">
                <a:solidFill>
                  <a:srgbClr val="5D7188"/>
                </a:solidFill>
                <a:latin typeface="Arial"/>
              </a:rPr>
              <a:t>Көрсетілім — оқу деректері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4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ҚАУІПСІЗДІК ШАРАЛАРЫ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65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Қолжетімділік және деректерді қорғау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66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7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68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10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69" name="Rectangle 8"/>
          <p:cNvSpPr/>
          <p:nvPr/>
        </p:nvSpPr>
        <p:spPr>
          <a:xfrm>
            <a:off x="685800" y="1841500"/>
            <a:ext cx="5295900" cy="1866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0" name="TextBox 9"/>
          <p:cNvSpPr txBox="1"/>
          <p:nvPr/>
        </p:nvSpPr>
        <p:spPr>
          <a:xfrm>
            <a:off x="927100" y="20701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Рөл мен сессия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71" name="TextBox 10"/>
          <p:cNvSpPr txBox="1"/>
          <p:nvPr/>
        </p:nvSpPr>
        <p:spPr>
          <a:xfrm>
            <a:off x="927100" y="25273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Қорғалған беттерде аккаунттың рөлі мен белсенділігі тексеріледі.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72" name="Rectangle 11"/>
          <p:cNvSpPr/>
          <p:nvPr/>
        </p:nvSpPr>
        <p:spPr>
          <a:xfrm>
            <a:off x="6184900" y="1841500"/>
            <a:ext cx="5295900" cy="1866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3" name="TextBox 12"/>
          <p:cNvSpPr txBox="1"/>
          <p:nvPr/>
        </p:nvSpPr>
        <p:spPr>
          <a:xfrm>
            <a:off x="6426200" y="20701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Деректер иесі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74" name="TextBox 13"/>
          <p:cNvSpPr txBox="1"/>
          <p:nvPr/>
        </p:nvSpPr>
        <p:spPr>
          <a:xfrm>
            <a:off x="6426200" y="25273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Пациент тек өз қабылдауларын, дәрігер өз қабылдауларын көреді.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75" name="Rectangle 14"/>
          <p:cNvSpPr/>
          <p:nvPr/>
        </p:nvSpPr>
        <p:spPr>
          <a:xfrm>
            <a:off x="685800" y="3898900"/>
            <a:ext cx="5295900" cy="1866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6" name="TextBox 15"/>
          <p:cNvSpPr txBox="1"/>
          <p:nvPr/>
        </p:nvSpPr>
        <p:spPr>
          <a:xfrm>
            <a:off x="927100" y="41275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Құпиясөз және формалар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77" name="TextBox 16"/>
          <p:cNvSpPr txBox="1"/>
          <p:nvPr/>
        </p:nvSpPr>
        <p:spPr>
          <a:xfrm>
            <a:off x="927100" y="45847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Құпиясөз хэшпен сақталады, POST формаларында CSRF токені бар.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78" name="Rectangle 17"/>
          <p:cNvSpPr/>
          <p:nvPr/>
        </p:nvSpPr>
        <p:spPr>
          <a:xfrm>
            <a:off x="6184900" y="3898900"/>
            <a:ext cx="5295900" cy="1866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9" name="TextBox 18"/>
          <p:cNvSpPr txBox="1"/>
          <p:nvPr/>
        </p:nvSpPr>
        <p:spPr>
          <a:xfrm>
            <a:off x="6426200" y="4127500"/>
            <a:ext cx="48133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SQL және HTML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80" name="TextBox 19"/>
          <p:cNvSpPr txBox="1"/>
          <p:nvPr/>
        </p:nvSpPr>
        <p:spPr>
          <a:xfrm>
            <a:off x="6426200" y="4584700"/>
            <a:ext cx="48133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PDO параметрлері қолданылып, бетке шығатын мәтін экрандалады.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4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ӘКІМШІ БӨЛІМІ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485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Есептер және SQL сұраулары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86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7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88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11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89" name="Rectangle 8"/>
          <p:cNvSpPr/>
          <p:nvPr/>
        </p:nvSpPr>
        <p:spPr>
          <a:xfrm>
            <a:off x="685800" y="1879600"/>
            <a:ext cx="3429000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0" name="TextBox 9"/>
          <p:cNvSpPr txBox="1"/>
          <p:nvPr/>
        </p:nvSpPr>
        <p:spPr>
          <a:xfrm>
            <a:off x="927100" y="2108200"/>
            <a:ext cx="29464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JOIN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91" name="TextBox 10"/>
          <p:cNvSpPr txBox="1"/>
          <p:nvPr/>
        </p:nvSpPr>
        <p:spPr>
          <a:xfrm>
            <a:off x="927100" y="2565400"/>
            <a:ext cx="2946400" cy="7315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Пациент, дәрігер, бөлімше және қабылдау мәліметтерін байланыстырады.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92" name="Rectangle 11"/>
          <p:cNvSpPr/>
          <p:nvPr/>
        </p:nvSpPr>
        <p:spPr>
          <a:xfrm>
            <a:off x="4381500" y="1879600"/>
            <a:ext cx="3429000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3" name="TextBox 12"/>
          <p:cNvSpPr txBox="1"/>
          <p:nvPr/>
        </p:nvSpPr>
        <p:spPr>
          <a:xfrm>
            <a:off x="4622800" y="2108200"/>
            <a:ext cx="29464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GROUP BY + COUNT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94" name="TextBox 13"/>
          <p:cNvSpPr txBox="1"/>
          <p:nvPr/>
        </p:nvSpPr>
        <p:spPr>
          <a:xfrm>
            <a:off x="4622800" y="2565400"/>
            <a:ext cx="2946400" cy="4876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Дәрігер мен бөлімше бойынша қабылдауларды санайды.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95" name="Rectangle 14"/>
          <p:cNvSpPr/>
          <p:nvPr/>
        </p:nvSpPr>
        <p:spPr>
          <a:xfrm>
            <a:off x="8077200" y="1879600"/>
            <a:ext cx="3429000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6" name="TextBox 15"/>
          <p:cNvSpPr txBox="1"/>
          <p:nvPr/>
        </p:nvSpPr>
        <p:spPr>
          <a:xfrm>
            <a:off x="8318500" y="2108200"/>
            <a:ext cx="29464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173052"/>
                </a:solidFill>
                <a:latin typeface="Arial"/>
              </a:rPr>
              <a:t>Мәртебе</a:t>
            </a:r>
            <a:endParaRPr sz="19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497" name="TextBox 16"/>
          <p:cNvSpPr txBox="1"/>
          <p:nvPr/>
        </p:nvSpPr>
        <p:spPr>
          <a:xfrm>
            <a:off x="8318500" y="2565400"/>
            <a:ext cx="2946400" cy="7315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600" b="0">
                <a:solidFill>
                  <a:srgbClr val="5D7188"/>
                </a:solidFill>
                <a:latin typeface="Arial"/>
              </a:rPr>
              <a:t>Жоспарланған, аяқталған және бас тартылған қабылдаулар есептеледі.</a:t>
            </a:r>
            <a:endParaRPr sz="16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498" name="TextBox 17"/>
          <p:cNvSpPr txBox="1"/>
          <p:nvPr/>
        </p:nvSpPr>
        <p:spPr>
          <a:xfrm>
            <a:off x="685800" y="5410200"/>
            <a:ext cx="10795000" cy="2895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900" b="1">
                <a:solidFill>
                  <a:srgbClr val="245BA8"/>
                </a:solidFill>
                <a:latin typeface="Arial"/>
              </a:rPr>
              <a:t>Сүзгілер: күн аралығы, бөлімше және дәрігер.</a:t>
            </a:r>
            <a:endParaRPr sz="1900" b="1">
              <a:solidFill>
                <a:srgbClr val="245BA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1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2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ЖОБАНЫҢ ҚАЗІРГІ КҮЙІ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503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Тексеру және даму бағыттары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504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5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506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12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507" name="Rectangle 8"/>
          <p:cNvSpPr/>
          <p:nvPr/>
        </p:nvSpPr>
        <p:spPr>
          <a:xfrm>
            <a:off x="685800" y="1841500"/>
            <a:ext cx="5270500" cy="368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8" name="TextBox 9"/>
          <p:cNvSpPr txBox="1"/>
          <p:nvPr/>
        </p:nvSpPr>
        <p:spPr>
          <a:xfrm>
            <a:off x="952500" y="2095500"/>
            <a:ext cx="46990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173052"/>
                </a:solidFill>
                <a:latin typeface="Arial"/>
              </a:rPr>
              <a:t>Тексерілген сценарийлер</a:t>
            </a:r>
            <a:endParaRPr sz="2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509" name="TextBox 10"/>
          <p:cNvSpPr txBox="1"/>
          <p:nvPr/>
        </p:nvSpPr>
        <p:spPr>
          <a:xfrm>
            <a:off x="952500" y="2730500"/>
            <a:ext cx="4699000" cy="1036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0">
                <a:solidFill>
                  <a:srgbClr val="263C55"/>
                </a:solidFill>
                <a:latin typeface="Arial"/>
              </a:rPr>
              <a:t>• Рөлдер және дерек иелігі</a:t>
            </a:r>
            <a:endParaRPr sz="1700" b="0">
              <a:solidFill>
                <a:srgbClr val="263C55"/>
              </a:solidFill>
              <a:latin typeface="Arial"/>
            </a:endParaRPr>
          </a:p>
          <a:p>
            <a:r>
              <a:rPr sz="1700" b="0">
                <a:solidFill>
                  <a:srgbClr val="263C55"/>
                </a:solidFill>
                <a:latin typeface="Arial"/>
              </a:rPr>
              <a:t>• Қабылдау уақытының қақтығысы</a:t>
            </a:r>
            <a:endParaRPr sz="1700" b="0">
              <a:solidFill>
                <a:srgbClr val="263C55"/>
              </a:solidFill>
              <a:latin typeface="Arial"/>
            </a:endParaRPr>
          </a:p>
          <a:p>
            <a:r>
              <a:rPr sz="1700" b="0">
                <a:solidFill>
                  <a:srgbClr val="263C55"/>
                </a:solidFill>
                <a:latin typeface="Arial"/>
              </a:rPr>
              <a:t>• Жазба мен рецепт</a:t>
            </a:r>
            <a:endParaRPr sz="1700" b="0">
              <a:solidFill>
                <a:srgbClr val="263C55"/>
              </a:solidFill>
              <a:latin typeface="Arial"/>
            </a:endParaRPr>
          </a:p>
          <a:p>
            <a:r>
              <a:rPr sz="1700" b="0">
                <a:solidFill>
                  <a:srgbClr val="263C55"/>
                </a:solidFill>
                <a:latin typeface="Arial"/>
              </a:rPr>
              <a:t>• Телефондағы көрініс</a:t>
            </a:r>
            <a:endParaRPr sz="1700" b="0">
              <a:solidFill>
                <a:srgbClr val="263C55"/>
              </a:solidFill>
              <a:latin typeface="Arial"/>
            </a:endParaRPr>
          </a:p>
        </p:txBody>
      </p:sp>
      <p:sp>
        <p:nvSpPr>
          <p:cNvPr id="510" name="Rectangle 11"/>
          <p:cNvSpPr/>
          <p:nvPr/>
        </p:nvSpPr>
        <p:spPr>
          <a:xfrm>
            <a:off x="6197600" y="1841500"/>
            <a:ext cx="5283200" cy="368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1" name="TextBox 12"/>
          <p:cNvSpPr txBox="1"/>
          <p:nvPr/>
        </p:nvSpPr>
        <p:spPr>
          <a:xfrm>
            <a:off x="6464300" y="2095500"/>
            <a:ext cx="4699000" cy="3048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000" b="1">
                <a:solidFill>
                  <a:srgbClr val="173052"/>
                </a:solidFill>
                <a:latin typeface="Arial"/>
              </a:rPr>
              <a:t>Келесі қадамдар</a:t>
            </a:r>
            <a:endParaRPr sz="2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512" name="TextBox 13"/>
          <p:cNvSpPr txBox="1"/>
          <p:nvPr/>
        </p:nvSpPr>
        <p:spPr>
          <a:xfrm>
            <a:off x="6464300" y="2730500"/>
            <a:ext cx="4699000" cy="10363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0">
                <a:solidFill>
                  <a:srgbClr val="263C55"/>
                </a:solidFill>
                <a:latin typeface="Arial"/>
              </a:rPr>
              <a:t>• Дәрігердің жеке жұмыс кестесі</a:t>
            </a:r>
            <a:endParaRPr sz="1700" b="0">
              <a:solidFill>
                <a:srgbClr val="263C55"/>
              </a:solidFill>
              <a:latin typeface="Arial"/>
            </a:endParaRPr>
          </a:p>
          <a:p>
            <a:r>
              <a:rPr sz="1700" b="0">
                <a:solidFill>
                  <a:srgbClr val="263C55"/>
                </a:solidFill>
                <a:latin typeface="Arial"/>
              </a:rPr>
              <a:t>• Хабарлама және еске салу</a:t>
            </a:r>
            <a:endParaRPr sz="1700" b="0">
              <a:solidFill>
                <a:srgbClr val="263C55"/>
              </a:solidFill>
              <a:latin typeface="Arial"/>
            </a:endParaRPr>
          </a:p>
          <a:p>
            <a:r>
              <a:rPr sz="1700" b="0">
                <a:solidFill>
                  <a:srgbClr val="263C55"/>
                </a:solidFill>
                <a:latin typeface="Arial"/>
              </a:rPr>
              <a:t>• Пациенттің медициналық тарихы</a:t>
            </a:r>
            <a:endParaRPr sz="1700" b="0">
              <a:solidFill>
                <a:srgbClr val="263C55"/>
              </a:solidFill>
              <a:latin typeface="Arial"/>
            </a:endParaRPr>
          </a:p>
          <a:p>
            <a:r>
              <a:rPr sz="1700" b="0">
                <a:solidFill>
                  <a:srgbClr val="263C55"/>
                </a:solidFill>
                <a:latin typeface="Arial"/>
              </a:rPr>
              <a:t>• Қосымша аудит мүмкіндіктері</a:t>
            </a:r>
            <a:endParaRPr sz="1700" b="0">
              <a:solidFill>
                <a:srgbClr val="263C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5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45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6" name="TextBox 3"/>
          <p:cNvSpPr txBox="1"/>
          <p:nvPr/>
        </p:nvSpPr>
        <p:spPr>
          <a:xfrm>
            <a:off x="685800" y="381000"/>
            <a:ext cx="10414000" cy="1676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100" b="1">
                <a:solidFill>
                  <a:srgbClr val="245BA8"/>
                </a:solidFill>
                <a:latin typeface="Arial"/>
              </a:rPr>
              <a:t>ЖОБА НӘТИЖЕСІ</a:t>
            </a:r>
            <a:endParaRPr sz="11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517" name="TextBox 4"/>
          <p:cNvSpPr txBox="1"/>
          <p:nvPr/>
        </p:nvSpPr>
        <p:spPr>
          <a:xfrm>
            <a:off x="685800" y="762000"/>
            <a:ext cx="10795000" cy="4572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3000" b="1">
                <a:solidFill>
                  <a:srgbClr val="173052"/>
                </a:solidFill>
                <a:latin typeface="Arial"/>
              </a:rPr>
              <a:t>Қорытынды</a:t>
            </a:r>
            <a:endParaRPr sz="30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518" name="Rectangle 5"/>
          <p:cNvSpPr/>
          <p:nvPr/>
        </p:nvSpPr>
        <p:spPr>
          <a:xfrm>
            <a:off x="685800" y="6299200"/>
            <a:ext cx="10820400" cy="1270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9" name="TextBox 6"/>
          <p:cNvSpPr txBox="1"/>
          <p:nvPr/>
        </p:nvSpPr>
        <p:spPr>
          <a:xfrm>
            <a:off x="685800" y="6451600"/>
            <a:ext cx="9398000" cy="13716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900" b="0">
                <a:solidFill>
                  <a:srgbClr val="5D7188"/>
                </a:solidFill>
                <a:latin typeface="Arial"/>
              </a:rPr>
              <a:t>ЕМХАНА · АҚПАРАТТЫҚ ЖҮЙЕ</a:t>
            </a:r>
            <a:endParaRPr sz="9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520" name="TextBox 7"/>
          <p:cNvSpPr txBox="1"/>
          <p:nvPr/>
        </p:nvSpPr>
        <p:spPr>
          <a:xfrm>
            <a:off x="11112500" y="6426200"/>
            <a:ext cx="381000" cy="15240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pPr algn="r"/>
            <a:r>
              <a:rPr sz="1000" b="0">
                <a:solidFill>
                  <a:srgbClr val="5D7188"/>
                </a:solidFill>
                <a:latin typeface="Arial"/>
              </a:rPr>
              <a:t>13</a:t>
            </a:r>
            <a:endParaRPr sz="10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521" name="Rectangle 8"/>
          <p:cNvSpPr/>
          <p:nvPr/>
        </p:nvSpPr>
        <p:spPr>
          <a:xfrm>
            <a:off x="685800" y="1905000"/>
            <a:ext cx="10795000" cy="3136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2" name="TextBox 9"/>
          <p:cNvSpPr txBox="1"/>
          <p:nvPr/>
        </p:nvSpPr>
        <p:spPr>
          <a:xfrm>
            <a:off x="1028700" y="2298700"/>
            <a:ext cx="10033000" cy="39624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600" b="1">
                <a:solidFill>
                  <a:srgbClr val="173052"/>
                </a:solidFill>
                <a:latin typeface="Arial"/>
              </a:rPr>
              <a:t>Бір жүйедегі толық жұмыс барысы</a:t>
            </a:r>
            <a:endParaRPr sz="2600" b="1">
              <a:solidFill>
                <a:srgbClr val="173052"/>
              </a:solidFill>
              <a:latin typeface="Arial"/>
            </a:endParaRPr>
          </a:p>
        </p:txBody>
      </p:sp>
      <p:sp>
        <p:nvSpPr>
          <p:cNvPr id="523" name="TextBox 10"/>
          <p:cNvSpPr txBox="1"/>
          <p:nvPr/>
        </p:nvSpPr>
        <p:spPr>
          <a:xfrm>
            <a:off x="1028700" y="3136900"/>
            <a:ext cx="10033000" cy="3505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300" b="1">
                <a:solidFill>
                  <a:srgbClr val="245BA8"/>
                </a:solidFill>
                <a:latin typeface="Arial"/>
              </a:rPr>
              <a:t>Жазылу  →  қабылдау  →  нәтиже  →  есеп</a:t>
            </a:r>
            <a:endParaRPr sz="2300" b="1">
              <a:solidFill>
                <a:srgbClr val="245BA8"/>
              </a:solidFill>
              <a:latin typeface="Arial"/>
            </a:endParaRPr>
          </a:p>
        </p:txBody>
      </p:sp>
      <p:sp>
        <p:nvSpPr>
          <p:cNvPr id="524" name="TextBox 11"/>
          <p:cNvSpPr txBox="1"/>
          <p:nvPr/>
        </p:nvSpPr>
        <p:spPr>
          <a:xfrm>
            <a:off x="1028700" y="4051300"/>
            <a:ext cx="10033000" cy="25908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1700" b="0">
                <a:solidFill>
                  <a:srgbClr val="5D7188"/>
                </a:solidFill>
                <a:latin typeface="Arial"/>
              </a:rPr>
              <a:t>Өзара байланысқан деректер · рөлдер · қорғалған уақыт</a:t>
            </a:r>
            <a:endParaRPr sz="1700" b="0">
              <a:solidFill>
                <a:srgbClr val="5D7188"/>
              </a:solidFill>
              <a:latin typeface="Arial"/>
            </a:endParaRPr>
          </a:p>
        </p:txBody>
      </p:sp>
      <p:sp>
        <p:nvSpPr>
          <p:cNvPr id="525" name="TextBox 12"/>
          <p:cNvSpPr txBox="1"/>
          <p:nvPr/>
        </p:nvSpPr>
        <p:spPr>
          <a:xfrm>
            <a:off x="685800" y="5600700"/>
            <a:ext cx="10795000" cy="350520"/>
          </a:xfrm>
          <a:prstGeom prst="rect">
            <a:avLst/>
          </a:prstGeom>
        </p:spPr>
        <p:txBody>
          <a:bodyPr wrap="square" lIns="0" tIns="0" rIns="0" bIns="0">
            <a:normAutofit fontScale="100000"/>
          </a:bodyPr>
          <a:lstStyle/>
          <a:p>
            <a:r>
              <a:rPr sz="2300" b="1">
                <a:solidFill>
                  <a:srgbClr val="245BA8"/>
                </a:solidFill>
                <a:latin typeface="Arial"/>
              </a:rPr>
              <a:t>Назарларыңызға рақмет!</a:t>
            </a:r>
            <a:endParaRPr sz="2300" b="1">
              <a:solidFill>
                <a:srgbClr val="245BA8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